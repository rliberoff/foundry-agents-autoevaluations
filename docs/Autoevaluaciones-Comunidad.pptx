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6"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14B691AC-3195-C109-43C7-1A4FAC8FB3FC}">
          <p14:sldIdLst>
            <p14:sldId id="256"/>
            <p14:sldId id="257"/>
          </p14:sldIdLst>
        </p14:section>
        <p14:section name="Qué y por qué" id="{35450B50-E534-801B-25F4-847091DBFF69}">
          <p14:sldIdLst>
            <p14:sldId id="258"/>
            <p14:sldId id="259"/>
          </p14:sldIdLst>
        </p14:section>
        <p14:section name="Valor" id="{EF294F40-03C3-5DF4-D437-126739B2593D}">
          <p14:sldIdLst>
            <p14:sldId id="260"/>
            <p14:sldId id="261"/>
            <p14:sldId id="262"/>
          </p14:sldIdLst>
        </p14:section>
        <p14:section name="Funcionamiento" id="{C58A84A4-0BAF-C362-0366-31068E66E0DB}">
          <p14:sldIdLst>
            <p14:sldId id="263"/>
          </p14:sldIdLst>
        </p14:section>
        <p14:section name="Demo" id="{EA6F351D-01A0-2576-B7DA-71DC45D68A7C}">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1656" y="9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5253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Objetivo de la sesión: entender qué son las autoevaluaciones, por qué las hacemos y qué valor tiene usar las interacciones reales de los usuarios. Después veremos la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de partida: un agente responde bien en nuestras pruebas, pero en producción cada persona pregunta distinto. Sin medir, no sabemos si la calidad se mantiene.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autoevaluación es evaluar automáticamente conversaciones que ya ocurrieron. No volvemos a lanzar preguntas al agente: Foundry lee las trazas que Application Insights ya tiene.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motivos: detectar regresiones, escalar la revisión que una persona no puede hacer a mano, y tener criterios objetivos y repetibles para decidir cuándo mejorar.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mensaje principal. Un dataset sintético refleja lo que imaginamos. Las trazas reales reflejan lo que de verdad ocurre: idioma, tono, temas, errores tipográficos, preguntas ambiguas.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evaluadores integrados de Foundry y dos personalizados. Relevancia, coherencia, fluidez y comunicación usan un modelo juez; violencia usa un evaluador de seguridad; los enlaces se comprueban con una regla determinista.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Conviene combinar un juez basado en modelo para lo subjetivo, como el tono, con reglas deterministas para lo verificable, como los dominios de los enlaces. En la demo pedimos a propósito enlaces externos para ver el caso de fallo.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una evaluación periódica gestionada por la aplicación, no una regla nativa de evaluación continua de Foundry. Un servicio en segundo plano lanza una evaluación cada cinco minutos sobre las trazas de la última hora. Foundry selecciona los datos de Application Insights.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del recorrido de la demo. El script solo conversa con el agente; todo lo demás lo hace la plataforma. Recordar que la ejecución real consume recursos de Azure.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paso a la demo. Tres ideas: datos reales, criterios claros y mejora continua.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45920"/>
            <a:ext cx="7680960" cy="22860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4160520"/>
            <a:ext cx="7680960" cy="914400"/>
          </a:xfrm>
          <a:prstGeom prst="rect">
            <a:avLst/>
          </a:prstGeom>
          <a:noFill/>
          <a:ln/>
        </p:spPr>
        <p:txBody>
          <a:bodyPr wrap="square" rtlCol="0"/>
          <a:lstStyle>
            <a:lvl1pPr marL="0" indent="0" algn="l">
              <a:buNone/>
              <a:defRPr lang="en-US" sz="2000" dirty="0">
                <a:solidFill>
                  <a:schemeClr val="accent3"/>
                </a:solidFill>
              </a:defRPr>
            </a:lvl1pPr>
          </a:lstStyle>
          <a:p>
            <a:pPr marL="0" indent="0" algn="l">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45920"/>
            <a:ext cx="7680960" cy="2286000"/>
          </a:xfrm>
          <a:prstGeom prst="rect">
            <a:avLst/>
          </a:prstGeom>
          <a:noFill/>
          <a:ln/>
        </p:spPr>
        <p:txBody>
          <a:bodyPr wrap="square" lIns="0" tIns="0" rIns="0" bIns="0" rtlCol="0" anchor="b"/>
          <a:lstStyle/>
          <a:p>
            <a:pPr marL="0" indent="0" algn="l">
              <a:buNone/>
            </a:pPr>
            <a:r>
              <a:rPr lang="en-US" sz="4400" b="1" dirty="0">
                <a:solidFill>
                  <a:schemeClr val="bg1"/>
                </a:solidFill>
              </a:rPr>
              <a:t>Autoevaluaciones de agentes de IA</a:t>
            </a:r>
            <a:endParaRPr lang="en-US" sz="4400" dirty="0"/>
          </a:p>
        </p:txBody>
      </p:sp>
      <p:sp>
        <p:nvSpPr>
          <p:cNvPr id="3" name="Text 0"/>
          <p:cNvSpPr>
            <a:spLocks noGrp="1"/>
          </p:cNvSpPr>
          <p:nvPr>
            <p:ph type="body" idx="101" hasCustomPrompt="1"/>
          </p:nvPr>
        </p:nvSpPr>
        <p:spPr>
          <a:xfrm>
            <a:off x="731520" y="4160520"/>
            <a:ext cx="7680960" cy="914400"/>
          </a:xfrm>
          <a:prstGeom prst="rect">
            <a:avLst/>
          </a:prstGeom>
          <a:noFill/>
          <a:ln/>
        </p:spPr>
        <p:txBody>
          <a:bodyPr wrap="square" lIns="0" tIns="0" rIns="0" bIns="0" rtlCol="0" anchor="t"/>
          <a:lstStyle/>
          <a:p>
            <a:pPr marL="0" indent="0" algn="l">
              <a:buNone/>
            </a:pPr>
            <a:r>
              <a:rPr lang="en-US" sz="2000" dirty="0">
                <a:solidFill>
                  <a:schemeClr val="accent3"/>
                </a:solidFill>
              </a:rPr>
              <a:t>Aprender de las conversaciones reales de nuestros usuarios</a:t>
            </a:r>
            <a:endParaRPr lang="en-US" sz="2000" dirty="0"/>
          </a:p>
        </p:txBody>
      </p:sp>
      <p:sp>
        <p:nvSpPr>
          <p:cNvPr id="4" name="Bubble user"/>
          <p:cNvSpPr/>
          <p:nvPr/>
        </p:nvSpPr>
        <p:spPr>
          <a:xfrm>
            <a:off x="8503920" y="1188720"/>
            <a:ext cx="3108960" cy="914400"/>
          </a:xfrm>
          <a:prstGeom prst="roundRect">
            <a:avLst>
              <a:gd name="adj" fmla="val 25000"/>
            </a:avLst>
          </a:prstGeom>
          <a:solidFill>
            <a:schemeClr val="accent6"/>
          </a:solidFill>
          <a:ln/>
        </p:spPr>
        <p:txBody>
          <a:bodyPr/>
          <a:lstStyle/>
          <a:p>
            <a:endParaRPr lang="en-001"/>
          </a:p>
        </p:txBody>
      </p:sp>
      <p:sp>
        <p:nvSpPr>
          <p:cNvPr id="5" name="Bubble user text"/>
          <p:cNvSpPr txBox="1"/>
          <p:nvPr/>
        </p:nvSpPr>
        <p:spPr>
          <a:xfrm>
            <a:off x="8627423" y="1188720"/>
            <a:ext cx="3017520" cy="914400"/>
          </a:xfrm>
          <a:prstGeom prst="rect">
            <a:avLst/>
          </a:prstGeom>
          <a:noFill/>
          <a:ln/>
        </p:spPr>
        <p:txBody>
          <a:bodyPr wrap="square" lIns="0" tIns="0" rIns="0" bIns="0" rtlCol="0" anchor="ctr"/>
          <a:lstStyle/>
          <a:p>
            <a:pPr marL="0" indent="0">
              <a:buNone/>
            </a:pPr>
            <a:r>
              <a:rPr lang="en-US" sz="1400" dirty="0">
                <a:solidFill>
                  <a:schemeClr val="bg1"/>
                </a:solidFill>
              </a:rPr>
              <a:t>¿Cómo despliego mi agente en Azure?</a:t>
            </a:r>
            <a:endParaRPr lang="en-US" sz="1400" dirty="0"/>
          </a:p>
        </p:txBody>
      </p:sp>
      <p:sp>
        <p:nvSpPr>
          <p:cNvPr id="6" name="Bubble agent"/>
          <p:cNvSpPr/>
          <p:nvPr/>
        </p:nvSpPr>
        <p:spPr>
          <a:xfrm>
            <a:off x="8503920" y="2377440"/>
            <a:ext cx="3108960" cy="914400"/>
          </a:xfrm>
          <a:prstGeom prst="roundRect">
            <a:avLst>
              <a:gd name="adj" fmla="val 25000"/>
            </a:avLst>
          </a:prstGeom>
          <a:solidFill>
            <a:schemeClr val="accent1"/>
          </a:solidFill>
          <a:ln/>
        </p:spPr>
        <p:txBody>
          <a:bodyPr/>
          <a:lstStyle/>
          <a:p>
            <a:endParaRPr lang="en-001"/>
          </a:p>
        </p:txBody>
      </p:sp>
      <p:sp>
        <p:nvSpPr>
          <p:cNvPr id="7" name="Bubble agent text"/>
          <p:cNvSpPr txBox="1"/>
          <p:nvPr/>
        </p:nvSpPr>
        <p:spPr>
          <a:xfrm>
            <a:off x="8686800" y="2377440"/>
            <a:ext cx="2743200" cy="914400"/>
          </a:xfrm>
          <a:prstGeom prst="rect">
            <a:avLst/>
          </a:prstGeom>
          <a:noFill/>
          <a:ln/>
        </p:spPr>
        <p:txBody>
          <a:bodyPr wrap="square" lIns="0" tIns="0" rIns="0" bIns="0" rtlCol="0" anchor="ctr"/>
          <a:lstStyle/>
          <a:p>
            <a:pPr marL="0" indent="0">
              <a:buNone/>
            </a:pPr>
            <a:r>
              <a:rPr lang="en-US" sz="1400" dirty="0">
                <a:solidFill>
                  <a:schemeClr val="bg1"/>
                </a:solidFill>
              </a:rPr>
              <a:t>Respuesta del agente con enlaces a Microsoft Learn…</a:t>
            </a:r>
            <a:endParaRPr lang="en-US" sz="1400" dirty="0"/>
          </a:p>
        </p:txBody>
      </p:sp>
      <p:sp>
        <p:nvSpPr>
          <p:cNvPr id="8" name="Score chip 1"/>
          <p:cNvSpPr/>
          <p:nvPr/>
        </p:nvSpPr>
        <p:spPr>
          <a:xfrm>
            <a:off x="8503920" y="3566160"/>
            <a:ext cx="960120" cy="548640"/>
          </a:xfrm>
          <a:prstGeom prst="roundRect">
            <a:avLst>
              <a:gd name="adj" fmla="val 50000"/>
            </a:avLst>
          </a:prstGeom>
          <a:solidFill>
            <a:schemeClr val="accent2"/>
          </a:solidFill>
          <a:ln/>
        </p:spPr>
        <p:txBody>
          <a:bodyPr/>
          <a:lstStyle/>
          <a:p>
            <a:endParaRPr lang="en-001"/>
          </a:p>
        </p:txBody>
      </p:sp>
      <p:sp>
        <p:nvSpPr>
          <p:cNvPr id="9" name="Score text 1"/>
          <p:cNvSpPr txBox="1"/>
          <p:nvPr/>
        </p:nvSpPr>
        <p:spPr>
          <a:xfrm>
            <a:off x="8503920" y="3566160"/>
            <a:ext cx="960120" cy="548640"/>
          </a:xfrm>
          <a:prstGeom prst="rect">
            <a:avLst/>
          </a:prstGeom>
          <a:noFill/>
          <a:ln/>
        </p:spPr>
        <p:txBody>
          <a:bodyPr wrap="square" lIns="0" tIns="0" rIns="0" bIns="0" rtlCol="0" anchor="ctr"/>
          <a:lstStyle/>
          <a:p>
            <a:pPr marL="0" indent="0" algn="ctr">
              <a:buNone/>
            </a:pPr>
            <a:r>
              <a:rPr lang="en-US" sz="1600" b="1" dirty="0">
                <a:solidFill>
                  <a:schemeClr val="tx2"/>
                </a:solidFill>
              </a:rPr>
              <a:t>4/5</a:t>
            </a:r>
            <a:endParaRPr lang="en-US" sz="1600" dirty="0"/>
          </a:p>
        </p:txBody>
      </p:sp>
      <p:sp>
        <p:nvSpPr>
          <p:cNvPr id="10" name="Score chip 2"/>
          <p:cNvSpPr/>
          <p:nvPr/>
        </p:nvSpPr>
        <p:spPr>
          <a:xfrm>
            <a:off x="9555480" y="3566160"/>
            <a:ext cx="960120" cy="548640"/>
          </a:xfrm>
          <a:prstGeom prst="roundRect">
            <a:avLst>
              <a:gd name="adj" fmla="val 50000"/>
            </a:avLst>
          </a:prstGeom>
          <a:solidFill>
            <a:schemeClr val="accent2"/>
          </a:solidFill>
          <a:ln/>
        </p:spPr>
        <p:txBody>
          <a:bodyPr/>
          <a:lstStyle/>
          <a:p>
            <a:endParaRPr lang="en-001"/>
          </a:p>
        </p:txBody>
      </p:sp>
      <p:sp>
        <p:nvSpPr>
          <p:cNvPr id="11" name="Score text 2"/>
          <p:cNvSpPr txBox="1"/>
          <p:nvPr/>
        </p:nvSpPr>
        <p:spPr>
          <a:xfrm>
            <a:off x="9555480" y="3566160"/>
            <a:ext cx="960120" cy="548640"/>
          </a:xfrm>
          <a:prstGeom prst="rect">
            <a:avLst/>
          </a:prstGeom>
          <a:noFill/>
          <a:ln/>
        </p:spPr>
        <p:txBody>
          <a:bodyPr wrap="square" lIns="0" tIns="0" rIns="0" bIns="0" rtlCol="0" anchor="ctr"/>
          <a:lstStyle/>
          <a:p>
            <a:pPr marL="0" indent="0" algn="ctr">
              <a:buNone/>
            </a:pPr>
            <a:r>
              <a:rPr lang="en-US" sz="1600" b="1" dirty="0">
                <a:solidFill>
                  <a:schemeClr val="tx2"/>
                </a:solidFill>
              </a:rPr>
              <a:t>5/5</a:t>
            </a:r>
            <a:endParaRPr lang="en-US" sz="1600" dirty="0"/>
          </a:p>
        </p:txBody>
      </p:sp>
      <p:sp>
        <p:nvSpPr>
          <p:cNvPr id="12" name="Score chip 3"/>
          <p:cNvSpPr/>
          <p:nvPr/>
        </p:nvSpPr>
        <p:spPr>
          <a:xfrm>
            <a:off x="10607040" y="3566160"/>
            <a:ext cx="960120" cy="548640"/>
          </a:xfrm>
          <a:prstGeom prst="roundRect">
            <a:avLst>
              <a:gd name="adj" fmla="val 50000"/>
            </a:avLst>
          </a:prstGeom>
          <a:solidFill>
            <a:schemeClr val="accent2"/>
          </a:solidFill>
          <a:ln/>
        </p:spPr>
        <p:txBody>
          <a:bodyPr/>
          <a:lstStyle/>
          <a:p>
            <a:endParaRPr lang="en-001"/>
          </a:p>
        </p:txBody>
      </p:sp>
      <p:sp>
        <p:nvSpPr>
          <p:cNvPr id="13" name="Score text 3"/>
          <p:cNvSpPr txBox="1"/>
          <p:nvPr/>
        </p:nvSpPr>
        <p:spPr>
          <a:xfrm>
            <a:off x="10607040" y="3566160"/>
            <a:ext cx="960120" cy="548640"/>
          </a:xfrm>
          <a:prstGeom prst="rect">
            <a:avLst/>
          </a:prstGeom>
          <a:noFill/>
          <a:ln/>
        </p:spPr>
        <p:txBody>
          <a:bodyPr wrap="square" lIns="0" tIns="0" rIns="0" bIns="0" rtlCol="0" anchor="ctr"/>
          <a:lstStyle/>
          <a:p>
            <a:pPr marL="0" indent="0" algn="ctr">
              <a:buNone/>
            </a:pPr>
            <a:r>
              <a:rPr lang="en-US" sz="1600" b="1" dirty="0">
                <a:solidFill>
                  <a:schemeClr val="tx2"/>
                </a:solidFill>
              </a:rPr>
              <a:t>OK</a:t>
            </a:r>
            <a:endParaRPr lang="en-US" sz="1600" dirty="0"/>
          </a:p>
        </p:txBody>
      </p:sp>
      <p:sp>
        <p:nvSpPr>
          <p:cNvPr id="14" name="Footer tags"/>
          <p:cNvSpPr txBox="1"/>
          <p:nvPr/>
        </p:nvSpPr>
        <p:spPr>
          <a:xfrm>
            <a:off x="731520" y="6035040"/>
            <a:ext cx="7315200" cy="365760"/>
          </a:xfrm>
          <a:prstGeom prst="rect">
            <a:avLst/>
          </a:prstGeom>
          <a:noFill/>
          <a:ln/>
        </p:spPr>
        <p:txBody>
          <a:bodyPr wrap="square" lIns="0" tIns="0" rIns="0" bIns="0" rtlCol="0" anchor="ctr"/>
          <a:lstStyle/>
          <a:p>
            <a:pPr marL="0" indent="0">
              <a:buNone/>
            </a:pPr>
            <a:r>
              <a:rPr lang="en-US" sz="1400" dirty="0">
                <a:solidFill>
                  <a:schemeClr val="accent3"/>
                </a:solidFill>
              </a:rPr>
              <a:t>Microsoft Foundry · Application Insights · .NET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2"/>
                </a:solidFill>
              </a:rPr>
              <a:t>Lanzar un agente no es saber si funciona</a:t>
            </a:r>
            <a:endParaRPr lang="en-US" sz="3400" dirty="0"/>
          </a:p>
        </p:txBody>
      </p:sp>
      <p:sp>
        <p:nvSpPr>
          <p:cNvPr id="4" name="El agente responde circle"/>
          <p:cNvSpPr/>
          <p:nvPr/>
        </p:nvSpPr>
        <p:spPr>
          <a:xfrm>
            <a:off x="548640" y="1554480"/>
            <a:ext cx="914400" cy="914400"/>
          </a:xfrm>
          <a:prstGeom prst="ellipse">
            <a:avLst/>
          </a:prstGeom>
          <a:solidFill>
            <a:schemeClr val="accent1"/>
          </a:solidFill>
          <a:ln/>
        </p:spPr>
        <p:txBody>
          <a:bodyPr/>
          <a:lstStyle/>
          <a:p>
            <a:endParaRPr lang="en-001"/>
          </a:p>
        </p:txBody>
      </p:sp>
      <p:pic>
        <p:nvPicPr>
          <p:cNvPr id="5" name="El agente responde" descr="El agente responde"/>
          <p:cNvPicPr>
            <a:picLocks noChangeAspect="1"/>
          </p:cNvPicPr>
          <p:nvPr/>
        </p:nvPicPr>
        <p:blipFill>
          <a:blip r:embed="rId3"/>
          <a:stretch>
            <a:fillRect/>
          </a:stretch>
        </p:blipFill>
        <p:spPr>
          <a:xfrm>
            <a:off x="777240" y="1783080"/>
            <a:ext cx="457200" cy="457200"/>
          </a:xfrm>
          <a:prstGeom prst="rect">
            <a:avLst/>
          </a:prstGeom>
        </p:spPr>
      </p:pic>
      <p:sp>
        <p:nvSpPr>
          <p:cNvPr id="6" name="Problem head 1"/>
          <p:cNvSpPr txBox="1"/>
          <p:nvPr/>
        </p:nvSpPr>
        <p:spPr>
          <a:xfrm>
            <a:off x="1737360" y="1554480"/>
            <a:ext cx="5669280" cy="457200"/>
          </a:xfrm>
          <a:prstGeom prst="rect">
            <a:avLst/>
          </a:prstGeom>
          <a:noFill/>
          <a:ln/>
        </p:spPr>
        <p:txBody>
          <a:bodyPr wrap="square" lIns="0" tIns="0" rIns="0" bIns="0" rtlCol="0" anchor="t"/>
          <a:lstStyle/>
          <a:p>
            <a:pPr marL="0" indent="0">
              <a:buNone/>
            </a:pPr>
            <a:r>
              <a:rPr lang="en-US" sz="2200" b="1" dirty="0">
                <a:solidFill>
                  <a:schemeClr val="tx2"/>
                </a:solidFill>
              </a:rPr>
              <a:t>El agente responde</a:t>
            </a:r>
            <a:endParaRPr lang="en-US" sz="2200" dirty="0"/>
          </a:p>
        </p:txBody>
      </p:sp>
      <p:sp>
        <p:nvSpPr>
          <p:cNvPr id="7" name="Problem body 1"/>
          <p:cNvSpPr txBox="1"/>
          <p:nvPr/>
        </p:nvSpPr>
        <p:spPr>
          <a:xfrm>
            <a:off x="1737360" y="2011680"/>
            <a:ext cx="5669280" cy="731520"/>
          </a:xfrm>
          <a:prstGeom prst="rect">
            <a:avLst/>
          </a:prstGeom>
          <a:noFill/>
          <a:ln/>
        </p:spPr>
        <p:txBody>
          <a:bodyPr wrap="square" lIns="0" tIns="0" rIns="0" bIns="0" rtlCol="0" anchor="t"/>
          <a:lstStyle/>
          <a:p>
            <a:pPr marL="0" indent="0">
              <a:buNone/>
            </a:pPr>
            <a:r>
              <a:rPr lang="en-US" sz="1600" dirty="0">
                <a:solidFill>
                  <a:schemeClr val="tx1"/>
                </a:solidFill>
              </a:rPr>
              <a:t>Pero ¿responde bien? ¿Con el tono correcto? ¿Con fuentes fiables?</a:t>
            </a:r>
            <a:endParaRPr lang="en-US" sz="1600" dirty="0"/>
          </a:p>
        </p:txBody>
      </p:sp>
      <p:sp>
        <p:nvSpPr>
          <p:cNvPr id="8" name="Los usuarios preguntan lo inesperado circle"/>
          <p:cNvSpPr/>
          <p:nvPr/>
        </p:nvSpPr>
        <p:spPr>
          <a:xfrm>
            <a:off x="548640" y="3063240"/>
            <a:ext cx="914400" cy="914400"/>
          </a:xfrm>
          <a:prstGeom prst="ellipse">
            <a:avLst/>
          </a:prstGeom>
          <a:solidFill>
            <a:schemeClr val="accent1"/>
          </a:solidFill>
          <a:ln/>
        </p:spPr>
        <p:txBody>
          <a:bodyPr/>
          <a:lstStyle/>
          <a:p>
            <a:endParaRPr lang="en-001"/>
          </a:p>
        </p:txBody>
      </p:sp>
      <p:pic>
        <p:nvPicPr>
          <p:cNvPr id="9" name="Los usuarios preguntan lo inesperado" descr="Los usuarios preguntan lo inesperado"/>
          <p:cNvPicPr>
            <a:picLocks noChangeAspect="1"/>
          </p:cNvPicPr>
          <p:nvPr/>
        </p:nvPicPr>
        <p:blipFill>
          <a:blip r:embed="rId4"/>
          <a:stretch>
            <a:fillRect/>
          </a:stretch>
        </p:blipFill>
        <p:spPr>
          <a:xfrm>
            <a:off x="777240" y="3291840"/>
            <a:ext cx="457200" cy="457200"/>
          </a:xfrm>
          <a:prstGeom prst="rect">
            <a:avLst/>
          </a:prstGeom>
        </p:spPr>
      </p:pic>
      <p:sp>
        <p:nvSpPr>
          <p:cNvPr id="10" name="Problem head 2"/>
          <p:cNvSpPr txBox="1"/>
          <p:nvPr/>
        </p:nvSpPr>
        <p:spPr>
          <a:xfrm>
            <a:off x="1737360" y="3063240"/>
            <a:ext cx="5669280" cy="457200"/>
          </a:xfrm>
          <a:prstGeom prst="rect">
            <a:avLst/>
          </a:prstGeom>
          <a:noFill/>
          <a:ln/>
        </p:spPr>
        <p:txBody>
          <a:bodyPr wrap="square" lIns="0" tIns="0" rIns="0" bIns="0" rtlCol="0" anchor="t"/>
          <a:lstStyle/>
          <a:p>
            <a:pPr marL="0" indent="0">
              <a:buNone/>
            </a:pPr>
            <a:r>
              <a:rPr lang="en-US" sz="2200" b="1" dirty="0">
                <a:solidFill>
                  <a:schemeClr val="tx2"/>
                </a:solidFill>
              </a:rPr>
              <a:t>Los usuarios preguntan lo inesperado</a:t>
            </a:r>
            <a:endParaRPr lang="en-US" sz="2200" dirty="0"/>
          </a:p>
        </p:txBody>
      </p:sp>
      <p:sp>
        <p:nvSpPr>
          <p:cNvPr id="11" name="Problem body 2"/>
          <p:cNvSpPr txBox="1"/>
          <p:nvPr/>
        </p:nvSpPr>
        <p:spPr>
          <a:xfrm>
            <a:off x="1737360" y="3520440"/>
            <a:ext cx="5669280" cy="731520"/>
          </a:xfrm>
          <a:prstGeom prst="rect">
            <a:avLst/>
          </a:prstGeom>
          <a:noFill/>
          <a:ln/>
        </p:spPr>
        <p:txBody>
          <a:bodyPr wrap="square" lIns="0" tIns="0" rIns="0" bIns="0" rtlCol="0" anchor="t"/>
          <a:lstStyle/>
          <a:p>
            <a:pPr marL="0" indent="0">
              <a:buNone/>
            </a:pPr>
            <a:r>
              <a:rPr lang="en-US" sz="1600" dirty="0">
                <a:solidFill>
                  <a:schemeClr val="tx1"/>
                </a:solidFill>
              </a:rPr>
              <a:t>Ninguna batería de pruebas anticipa todas las formas de preguntar.</a:t>
            </a:r>
            <a:endParaRPr lang="en-US" sz="1600" dirty="0"/>
          </a:p>
        </p:txBody>
      </p:sp>
      <p:sp>
        <p:nvSpPr>
          <p:cNvPr id="12" name="La calidad cambia con el tiempo circle"/>
          <p:cNvSpPr/>
          <p:nvPr/>
        </p:nvSpPr>
        <p:spPr>
          <a:xfrm>
            <a:off x="548640" y="4572000"/>
            <a:ext cx="914400" cy="914400"/>
          </a:xfrm>
          <a:prstGeom prst="ellipse">
            <a:avLst/>
          </a:prstGeom>
          <a:solidFill>
            <a:schemeClr val="accent1"/>
          </a:solidFill>
          <a:ln/>
        </p:spPr>
        <p:txBody>
          <a:bodyPr/>
          <a:lstStyle/>
          <a:p>
            <a:endParaRPr lang="en-001"/>
          </a:p>
        </p:txBody>
      </p:sp>
      <p:pic>
        <p:nvPicPr>
          <p:cNvPr id="13" name="La calidad cambia con el tiempo" descr="La calidad cambia con el tiempo"/>
          <p:cNvPicPr>
            <a:picLocks noChangeAspect="1"/>
          </p:cNvPicPr>
          <p:nvPr/>
        </p:nvPicPr>
        <p:blipFill>
          <a:blip r:embed="rId5"/>
          <a:stretch>
            <a:fillRect/>
          </a:stretch>
        </p:blipFill>
        <p:spPr>
          <a:xfrm>
            <a:off x="777240" y="4800600"/>
            <a:ext cx="457200" cy="457200"/>
          </a:xfrm>
          <a:prstGeom prst="rect">
            <a:avLst/>
          </a:prstGeom>
        </p:spPr>
      </p:pic>
      <p:sp>
        <p:nvSpPr>
          <p:cNvPr id="14" name="Problem head 3"/>
          <p:cNvSpPr txBox="1"/>
          <p:nvPr/>
        </p:nvSpPr>
        <p:spPr>
          <a:xfrm>
            <a:off x="1737360" y="4572000"/>
            <a:ext cx="5669280" cy="457200"/>
          </a:xfrm>
          <a:prstGeom prst="rect">
            <a:avLst/>
          </a:prstGeom>
          <a:noFill/>
          <a:ln/>
        </p:spPr>
        <p:txBody>
          <a:bodyPr wrap="square" lIns="0" tIns="0" rIns="0" bIns="0" rtlCol="0" anchor="t"/>
          <a:lstStyle/>
          <a:p>
            <a:pPr marL="0" indent="0">
              <a:buNone/>
            </a:pPr>
            <a:r>
              <a:rPr lang="en-US" sz="2200" b="1" dirty="0">
                <a:solidFill>
                  <a:schemeClr val="tx2"/>
                </a:solidFill>
              </a:rPr>
              <a:t>La calidad cambia con el tiempo</a:t>
            </a:r>
            <a:endParaRPr lang="en-US" sz="2200" dirty="0"/>
          </a:p>
        </p:txBody>
      </p:sp>
      <p:sp>
        <p:nvSpPr>
          <p:cNvPr id="15" name="Problem body 3"/>
          <p:cNvSpPr txBox="1"/>
          <p:nvPr/>
        </p:nvSpPr>
        <p:spPr>
          <a:xfrm>
            <a:off x="1737360" y="5029200"/>
            <a:ext cx="5669280" cy="731520"/>
          </a:xfrm>
          <a:prstGeom prst="rect">
            <a:avLst/>
          </a:prstGeom>
          <a:noFill/>
          <a:ln/>
        </p:spPr>
        <p:txBody>
          <a:bodyPr wrap="square" lIns="0" tIns="0" rIns="0" bIns="0" rtlCol="0" anchor="t"/>
          <a:lstStyle/>
          <a:p>
            <a:pPr marL="0" indent="0">
              <a:buNone/>
            </a:pPr>
            <a:r>
              <a:rPr lang="en-US" sz="1600" dirty="0">
                <a:solidFill>
                  <a:schemeClr val="tx1"/>
                </a:solidFill>
              </a:rPr>
              <a:t>Nuevos prompts, modelos, herramientas o datos pueden degradar respuestas sin que nadie lo note.</a:t>
            </a:r>
            <a:endParaRPr lang="en-US" sz="1600" dirty="0"/>
          </a:p>
        </p:txBody>
      </p:sp>
      <p:sp>
        <p:nvSpPr>
          <p:cNvPr id="16" name="Quote card"/>
          <p:cNvSpPr/>
          <p:nvPr/>
        </p:nvSpPr>
        <p:spPr>
          <a:xfrm>
            <a:off x="7863840" y="1554480"/>
            <a:ext cx="3776472" cy="4297680"/>
          </a:xfrm>
          <a:prstGeom prst="roundRect">
            <a:avLst>
              <a:gd name="adj" fmla="val 3632"/>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17" name="Quote text"/>
          <p:cNvSpPr txBox="1"/>
          <p:nvPr/>
        </p:nvSpPr>
        <p:spPr>
          <a:xfrm>
            <a:off x="8183880" y="1920240"/>
            <a:ext cx="3154680" cy="2377440"/>
          </a:xfrm>
          <a:prstGeom prst="rect">
            <a:avLst/>
          </a:prstGeom>
          <a:noFill/>
          <a:ln/>
        </p:spPr>
        <p:txBody>
          <a:bodyPr wrap="square" lIns="0" tIns="0" rIns="0" bIns="0" rtlCol="0" anchor="t"/>
          <a:lstStyle/>
          <a:p>
            <a:pPr marL="0" indent="0">
              <a:buNone/>
            </a:pPr>
            <a:r>
              <a:rPr lang="en-US" sz="2400" i="1" dirty="0">
                <a:solidFill>
                  <a:schemeClr val="tx2"/>
                </a:solidFill>
                <a:latin typeface="Cambria" pitchFamily="34" charset="0"/>
                <a:ea typeface="Cambria" pitchFamily="34" charset="-122"/>
                <a:cs typeface="Cambria" pitchFamily="34" charset="-120"/>
              </a:rPr>
              <a:t>“Sin medición continua, la calidad de un agente es una suposición.”</a:t>
            </a:r>
            <a:endParaRPr lang="en-US" sz="2400" dirty="0"/>
          </a:p>
        </p:txBody>
      </p:sp>
      <p:sp>
        <p:nvSpPr>
          <p:cNvPr id="18" name="Quote caption"/>
          <p:cNvSpPr txBox="1"/>
          <p:nvPr/>
        </p:nvSpPr>
        <p:spPr>
          <a:xfrm>
            <a:off x="8183880" y="5120640"/>
            <a:ext cx="3154680" cy="365760"/>
          </a:xfrm>
          <a:prstGeom prst="rect">
            <a:avLst/>
          </a:prstGeom>
          <a:noFill/>
          <a:ln/>
        </p:spPr>
        <p:txBody>
          <a:bodyPr wrap="square" lIns="0" tIns="0" rIns="0" bIns="0" rtlCol="0" anchor="ctr"/>
          <a:lstStyle/>
          <a:p>
            <a:pPr marL="0" indent="0">
              <a:buNone/>
            </a:pPr>
            <a:r>
              <a:rPr lang="en-US" sz="1400" b="1" dirty="0">
                <a:solidFill>
                  <a:schemeClr val="accent1"/>
                </a:solidFill>
              </a:rPr>
              <a:t>Idea central de la demo</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2"/>
                </a:solidFill>
              </a:rPr>
              <a:t>Qué es una autoevaluación</a:t>
            </a:r>
            <a:endParaRPr lang="en-US" sz="3400" dirty="0"/>
          </a:p>
        </p:txBody>
      </p:sp>
      <p:sp>
        <p:nvSpPr>
          <p:cNvPr id="4" name="Step card 1"/>
          <p:cNvSpPr/>
          <p:nvPr/>
        </p:nvSpPr>
        <p:spPr>
          <a:xfrm>
            <a:off x="548640" y="1645920"/>
            <a:ext cx="1920240" cy="2743200"/>
          </a:xfrm>
          <a:prstGeom prst="roundRect">
            <a:avLst>
              <a:gd name="adj" fmla="val 5714"/>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5" name="Usuarios circle"/>
          <p:cNvSpPr/>
          <p:nvPr/>
        </p:nvSpPr>
        <p:spPr>
          <a:xfrm>
            <a:off x="1097280" y="1874520"/>
            <a:ext cx="822960" cy="822960"/>
          </a:xfrm>
          <a:prstGeom prst="ellipse">
            <a:avLst/>
          </a:prstGeom>
          <a:solidFill>
            <a:schemeClr val="accent1"/>
          </a:solidFill>
          <a:ln/>
        </p:spPr>
        <p:txBody>
          <a:bodyPr/>
          <a:lstStyle/>
          <a:p>
            <a:endParaRPr lang="en-001"/>
          </a:p>
        </p:txBody>
      </p:sp>
      <p:pic>
        <p:nvPicPr>
          <p:cNvPr id="6" name="Usuarios" descr="Usuarios"/>
          <p:cNvPicPr>
            <a:picLocks noChangeAspect="1"/>
          </p:cNvPicPr>
          <p:nvPr/>
        </p:nvPicPr>
        <p:blipFill>
          <a:blip r:embed="rId3"/>
          <a:stretch>
            <a:fillRect/>
          </a:stretch>
        </p:blipFill>
        <p:spPr>
          <a:xfrm>
            <a:off x="1303020" y="2080260"/>
            <a:ext cx="411480" cy="411480"/>
          </a:xfrm>
          <a:prstGeom prst="rect">
            <a:avLst/>
          </a:prstGeom>
        </p:spPr>
      </p:pic>
      <p:sp>
        <p:nvSpPr>
          <p:cNvPr id="7" name="Step title 1"/>
          <p:cNvSpPr txBox="1"/>
          <p:nvPr/>
        </p:nvSpPr>
        <p:spPr>
          <a:xfrm>
            <a:off x="640080" y="2834640"/>
            <a:ext cx="1737360" cy="457200"/>
          </a:xfrm>
          <a:prstGeom prst="rect">
            <a:avLst/>
          </a:prstGeom>
          <a:noFill/>
          <a:ln/>
        </p:spPr>
        <p:txBody>
          <a:bodyPr wrap="square" lIns="0" tIns="0" rIns="0" bIns="0" rtlCol="0" anchor="ctr"/>
          <a:lstStyle/>
          <a:p>
            <a:pPr marL="0" indent="0" algn="ctr">
              <a:buNone/>
            </a:pPr>
            <a:r>
              <a:rPr lang="en-US" sz="1800" b="1" dirty="0">
                <a:solidFill>
                  <a:schemeClr val="tx2"/>
                </a:solidFill>
              </a:rPr>
              <a:t>Usuarios</a:t>
            </a:r>
            <a:endParaRPr lang="en-US" sz="1800" dirty="0"/>
          </a:p>
        </p:txBody>
      </p:sp>
      <p:sp>
        <p:nvSpPr>
          <p:cNvPr id="8" name="Step text 1"/>
          <p:cNvSpPr txBox="1"/>
          <p:nvPr/>
        </p:nvSpPr>
        <p:spPr>
          <a:xfrm>
            <a:off x="685800" y="3337560"/>
            <a:ext cx="1645920" cy="914400"/>
          </a:xfrm>
          <a:prstGeom prst="rect">
            <a:avLst/>
          </a:prstGeom>
          <a:noFill/>
          <a:ln/>
        </p:spPr>
        <p:txBody>
          <a:bodyPr wrap="square" lIns="0" tIns="0" rIns="0" bIns="0" rtlCol="0" anchor="t"/>
          <a:lstStyle/>
          <a:p>
            <a:pPr marL="0" indent="0" algn="ctr">
              <a:buNone/>
            </a:pPr>
            <a:r>
              <a:rPr lang="en-US" sz="1400" dirty="0">
                <a:solidFill>
                  <a:schemeClr val="tx1"/>
                </a:solidFill>
              </a:rPr>
              <a:t>Conversan por Teams o Microsoft 365 Copilot</a:t>
            </a:r>
            <a:endParaRPr lang="en-US" sz="1400" dirty="0"/>
          </a:p>
        </p:txBody>
      </p:sp>
      <p:sp>
        <p:nvSpPr>
          <p:cNvPr id="9" name="Arrow 1"/>
          <p:cNvSpPr/>
          <p:nvPr/>
        </p:nvSpPr>
        <p:spPr>
          <a:xfrm>
            <a:off x="2505456" y="3017520"/>
            <a:ext cx="292608" cy="0"/>
          </a:xfrm>
          <a:prstGeom prst="line">
            <a:avLst/>
          </a:prstGeom>
          <a:noFill/>
          <a:ln w="25400">
            <a:solidFill>
              <a:schemeClr val="accent5"/>
            </a:solidFill>
            <a:prstDash val="solid"/>
            <a:tailEnd type="triangle"/>
          </a:ln>
        </p:spPr>
        <p:txBody>
          <a:bodyPr/>
          <a:lstStyle/>
          <a:p>
            <a:endParaRPr lang="en-001"/>
          </a:p>
        </p:txBody>
      </p:sp>
      <p:sp>
        <p:nvSpPr>
          <p:cNvPr id="10" name="Step card 2"/>
          <p:cNvSpPr/>
          <p:nvPr/>
        </p:nvSpPr>
        <p:spPr>
          <a:xfrm>
            <a:off x="2834640" y="1645920"/>
            <a:ext cx="1920240" cy="2743200"/>
          </a:xfrm>
          <a:prstGeom prst="roundRect">
            <a:avLst>
              <a:gd name="adj" fmla="val 5714"/>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11" name="Agente .NET circle"/>
          <p:cNvSpPr/>
          <p:nvPr/>
        </p:nvSpPr>
        <p:spPr>
          <a:xfrm>
            <a:off x="3383280" y="1874520"/>
            <a:ext cx="822960" cy="822960"/>
          </a:xfrm>
          <a:prstGeom prst="ellipse">
            <a:avLst/>
          </a:prstGeom>
          <a:solidFill>
            <a:schemeClr val="accent1"/>
          </a:solidFill>
          <a:ln/>
        </p:spPr>
        <p:txBody>
          <a:bodyPr/>
          <a:lstStyle/>
          <a:p>
            <a:endParaRPr lang="en-001"/>
          </a:p>
        </p:txBody>
      </p:sp>
      <p:pic>
        <p:nvPicPr>
          <p:cNvPr id="12" name="Agente .NET" descr="Agente .NET"/>
          <p:cNvPicPr>
            <a:picLocks noChangeAspect="1"/>
          </p:cNvPicPr>
          <p:nvPr/>
        </p:nvPicPr>
        <p:blipFill>
          <a:blip r:embed="rId4"/>
          <a:stretch>
            <a:fillRect/>
          </a:stretch>
        </p:blipFill>
        <p:spPr>
          <a:xfrm>
            <a:off x="3589020" y="2080260"/>
            <a:ext cx="411480" cy="411480"/>
          </a:xfrm>
          <a:prstGeom prst="rect">
            <a:avLst/>
          </a:prstGeom>
        </p:spPr>
      </p:pic>
      <p:sp>
        <p:nvSpPr>
          <p:cNvPr id="13" name="Step title 2"/>
          <p:cNvSpPr txBox="1"/>
          <p:nvPr/>
        </p:nvSpPr>
        <p:spPr>
          <a:xfrm>
            <a:off x="2926080" y="2834640"/>
            <a:ext cx="1737360" cy="457200"/>
          </a:xfrm>
          <a:prstGeom prst="rect">
            <a:avLst/>
          </a:prstGeom>
          <a:noFill/>
          <a:ln/>
        </p:spPr>
        <p:txBody>
          <a:bodyPr wrap="square" lIns="0" tIns="0" rIns="0" bIns="0" rtlCol="0" anchor="ctr"/>
          <a:lstStyle/>
          <a:p>
            <a:pPr marL="0" indent="0" algn="ctr">
              <a:buNone/>
            </a:pPr>
            <a:r>
              <a:rPr lang="en-US" sz="1800" b="1" dirty="0">
                <a:solidFill>
                  <a:schemeClr val="tx2"/>
                </a:solidFill>
              </a:rPr>
              <a:t>Agente .NET</a:t>
            </a:r>
            <a:endParaRPr lang="en-US" sz="1800" dirty="0"/>
          </a:p>
        </p:txBody>
      </p:sp>
      <p:sp>
        <p:nvSpPr>
          <p:cNvPr id="14" name="Step text 2"/>
          <p:cNvSpPr txBox="1"/>
          <p:nvPr/>
        </p:nvSpPr>
        <p:spPr>
          <a:xfrm>
            <a:off x="2971800" y="3337560"/>
            <a:ext cx="1645920" cy="914400"/>
          </a:xfrm>
          <a:prstGeom prst="rect">
            <a:avLst/>
          </a:prstGeom>
          <a:noFill/>
          <a:ln/>
        </p:spPr>
        <p:txBody>
          <a:bodyPr wrap="square" lIns="0" tIns="0" rIns="0" bIns="0" rtlCol="0" anchor="t"/>
          <a:lstStyle/>
          <a:p>
            <a:pPr marL="0" indent="0" algn="ctr">
              <a:buNone/>
            </a:pPr>
            <a:r>
              <a:rPr lang="en-US" sz="1400" dirty="0">
                <a:solidFill>
                  <a:schemeClr val="tx1"/>
                </a:solidFill>
              </a:rPr>
              <a:t>Responde y consulta Microsoft Learn</a:t>
            </a:r>
            <a:endParaRPr lang="en-US" sz="1400" dirty="0"/>
          </a:p>
        </p:txBody>
      </p:sp>
      <p:sp>
        <p:nvSpPr>
          <p:cNvPr id="15" name="Arrow 2"/>
          <p:cNvSpPr/>
          <p:nvPr/>
        </p:nvSpPr>
        <p:spPr>
          <a:xfrm>
            <a:off x="4791456" y="3017520"/>
            <a:ext cx="292608" cy="0"/>
          </a:xfrm>
          <a:prstGeom prst="line">
            <a:avLst/>
          </a:prstGeom>
          <a:noFill/>
          <a:ln w="25400">
            <a:solidFill>
              <a:schemeClr val="accent5"/>
            </a:solidFill>
            <a:prstDash val="solid"/>
            <a:tailEnd type="triangle"/>
          </a:ln>
        </p:spPr>
        <p:txBody>
          <a:bodyPr/>
          <a:lstStyle/>
          <a:p>
            <a:endParaRPr lang="en-001"/>
          </a:p>
        </p:txBody>
      </p:sp>
      <p:sp>
        <p:nvSpPr>
          <p:cNvPr id="16" name="Step card 3"/>
          <p:cNvSpPr/>
          <p:nvPr/>
        </p:nvSpPr>
        <p:spPr>
          <a:xfrm>
            <a:off x="5120640" y="1645920"/>
            <a:ext cx="1920240" cy="2743200"/>
          </a:xfrm>
          <a:prstGeom prst="roundRect">
            <a:avLst>
              <a:gd name="adj" fmla="val 5714"/>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17" name="Application Insights circle"/>
          <p:cNvSpPr/>
          <p:nvPr/>
        </p:nvSpPr>
        <p:spPr>
          <a:xfrm>
            <a:off x="5669280" y="1874520"/>
            <a:ext cx="822960" cy="822960"/>
          </a:xfrm>
          <a:prstGeom prst="ellipse">
            <a:avLst/>
          </a:prstGeom>
          <a:solidFill>
            <a:schemeClr val="accent1"/>
          </a:solidFill>
          <a:ln/>
        </p:spPr>
        <p:txBody>
          <a:bodyPr/>
          <a:lstStyle/>
          <a:p>
            <a:endParaRPr lang="en-001"/>
          </a:p>
        </p:txBody>
      </p:sp>
      <p:pic>
        <p:nvPicPr>
          <p:cNvPr id="18" name="Application Insights" descr="Application Insights"/>
          <p:cNvPicPr>
            <a:picLocks noChangeAspect="1"/>
          </p:cNvPicPr>
          <p:nvPr/>
        </p:nvPicPr>
        <p:blipFill>
          <a:blip r:embed="rId5"/>
          <a:stretch>
            <a:fillRect/>
          </a:stretch>
        </p:blipFill>
        <p:spPr>
          <a:xfrm>
            <a:off x="5875020" y="2080260"/>
            <a:ext cx="411480" cy="411480"/>
          </a:xfrm>
          <a:prstGeom prst="rect">
            <a:avLst/>
          </a:prstGeom>
        </p:spPr>
      </p:pic>
      <p:sp>
        <p:nvSpPr>
          <p:cNvPr id="19" name="Step title 3"/>
          <p:cNvSpPr txBox="1"/>
          <p:nvPr/>
        </p:nvSpPr>
        <p:spPr>
          <a:xfrm>
            <a:off x="5212080" y="2834640"/>
            <a:ext cx="1737360" cy="457200"/>
          </a:xfrm>
          <a:prstGeom prst="rect">
            <a:avLst/>
          </a:prstGeom>
          <a:noFill/>
          <a:ln/>
        </p:spPr>
        <p:txBody>
          <a:bodyPr wrap="square" lIns="0" tIns="0" rIns="0" bIns="0" rtlCol="0" anchor="ctr"/>
          <a:lstStyle/>
          <a:p>
            <a:pPr marL="0" indent="0" algn="ctr">
              <a:buNone/>
            </a:pPr>
            <a:r>
              <a:rPr lang="en-US" sz="1800" b="1" dirty="0">
                <a:solidFill>
                  <a:schemeClr val="tx2"/>
                </a:solidFill>
              </a:rPr>
              <a:t>Application Insights</a:t>
            </a:r>
            <a:endParaRPr lang="en-US" sz="1800" dirty="0"/>
          </a:p>
        </p:txBody>
      </p:sp>
      <p:sp>
        <p:nvSpPr>
          <p:cNvPr id="20" name="Step text 3"/>
          <p:cNvSpPr txBox="1"/>
          <p:nvPr/>
        </p:nvSpPr>
        <p:spPr>
          <a:xfrm>
            <a:off x="5257800" y="3337560"/>
            <a:ext cx="1645920" cy="914400"/>
          </a:xfrm>
          <a:prstGeom prst="rect">
            <a:avLst/>
          </a:prstGeom>
          <a:noFill/>
          <a:ln/>
        </p:spPr>
        <p:txBody>
          <a:bodyPr wrap="square" lIns="0" tIns="0" rIns="0" bIns="0" rtlCol="0" anchor="t"/>
          <a:lstStyle/>
          <a:p>
            <a:pPr marL="0" indent="0" algn="ctr">
              <a:buNone/>
            </a:pPr>
            <a:r>
              <a:rPr lang="en-US" sz="1400" dirty="0">
                <a:solidFill>
                  <a:schemeClr val="tx1"/>
                </a:solidFill>
              </a:rPr>
              <a:t>Guarda las trazas con pregunta y respuesta</a:t>
            </a:r>
            <a:endParaRPr lang="en-US" sz="1400" dirty="0"/>
          </a:p>
        </p:txBody>
      </p:sp>
      <p:sp>
        <p:nvSpPr>
          <p:cNvPr id="21" name="Arrow 3"/>
          <p:cNvSpPr/>
          <p:nvPr/>
        </p:nvSpPr>
        <p:spPr>
          <a:xfrm>
            <a:off x="7077456" y="3017520"/>
            <a:ext cx="292608" cy="0"/>
          </a:xfrm>
          <a:prstGeom prst="line">
            <a:avLst/>
          </a:prstGeom>
          <a:noFill/>
          <a:ln w="25400">
            <a:solidFill>
              <a:schemeClr val="accent5"/>
            </a:solidFill>
            <a:prstDash val="solid"/>
            <a:tailEnd type="triangle"/>
          </a:ln>
        </p:spPr>
        <p:txBody>
          <a:bodyPr/>
          <a:lstStyle/>
          <a:p>
            <a:endParaRPr lang="en-001"/>
          </a:p>
        </p:txBody>
      </p:sp>
      <p:sp>
        <p:nvSpPr>
          <p:cNvPr id="22" name="Step card 4"/>
          <p:cNvSpPr/>
          <p:nvPr/>
        </p:nvSpPr>
        <p:spPr>
          <a:xfrm>
            <a:off x="7406640" y="1645920"/>
            <a:ext cx="1920240" cy="2743200"/>
          </a:xfrm>
          <a:prstGeom prst="roundRect">
            <a:avLst>
              <a:gd name="adj" fmla="val 5714"/>
            </a:avLst>
          </a:prstGeom>
          <a:solidFill>
            <a:schemeClr val="accent1"/>
          </a:solidFill>
          <a:ln/>
          <a:effectLst>
            <a:outerShdw blurRad="101600" dist="25400" dir="5400000" algn="bl" rotWithShape="0">
              <a:srgbClr val="000000">
                <a:alpha val="12000"/>
              </a:srgbClr>
            </a:outerShdw>
          </a:effectLst>
        </p:spPr>
        <p:txBody>
          <a:bodyPr/>
          <a:lstStyle/>
          <a:p>
            <a:endParaRPr lang="en-001"/>
          </a:p>
        </p:txBody>
      </p:sp>
      <p:sp>
        <p:nvSpPr>
          <p:cNvPr id="23" name="Foundry evalúa circle"/>
          <p:cNvSpPr/>
          <p:nvPr/>
        </p:nvSpPr>
        <p:spPr>
          <a:xfrm>
            <a:off x="7955280" y="1874520"/>
            <a:ext cx="822960" cy="822960"/>
          </a:xfrm>
          <a:prstGeom prst="ellipse">
            <a:avLst/>
          </a:prstGeom>
          <a:solidFill>
            <a:schemeClr val="bg1"/>
          </a:solidFill>
          <a:ln/>
        </p:spPr>
        <p:txBody>
          <a:bodyPr/>
          <a:lstStyle/>
          <a:p>
            <a:endParaRPr lang="en-001"/>
          </a:p>
        </p:txBody>
      </p:sp>
      <p:pic>
        <p:nvPicPr>
          <p:cNvPr id="24" name="Foundry evalúa" descr="Foundry evalúa"/>
          <p:cNvPicPr>
            <a:picLocks noChangeAspect="1"/>
          </p:cNvPicPr>
          <p:nvPr/>
        </p:nvPicPr>
        <p:blipFill>
          <a:blip r:embed="rId6"/>
          <a:stretch>
            <a:fillRect/>
          </a:stretch>
        </p:blipFill>
        <p:spPr>
          <a:xfrm>
            <a:off x="8161020" y="2080260"/>
            <a:ext cx="411480" cy="411480"/>
          </a:xfrm>
          <a:prstGeom prst="rect">
            <a:avLst/>
          </a:prstGeom>
        </p:spPr>
      </p:pic>
      <p:sp>
        <p:nvSpPr>
          <p:cNvPr id="25" name="Step title 4"/>
          <p:cNvSpPr txBox="1"/>
          <p:nvPr/>
        </p:nvSpPr>
        <p:spPr>
          <a:xfrm>
            <a:off x="7498080" y="2834640"/>
            <a:ext cx="1737360" cy="457200"/>
          </a:xfrm>
          <a:prstGeom prst="rect">
            <a:avLst/>
          </a:prstGeom>
          <a:noFill/>
          <a:ln/>
        </p:spPr>
        <p:txBody>
          <a:bodyPr wrap="square" lIns="0" tIns="0" rIns="0" bIns="0" rtlCol="0" anchor="ctr"/>
          <a:lstStyle/>
          <a:p>
            <a:pPr marL="0" indent="0" algn="ctr">
              <a:buNone/>
            </a:pPr>
            <a:r>
              <a:rPr lang="en-US" sz="1800" b="1" dirty="0">
                <a:solidFill>
                  <a:schemeClr val="bg1"/>
                </a:solidFill>
              </a:rPr>
              <a:t>Foundry evalúa</a:t>
            </a:r>
            <a:endParaRPr lang="en-US" sz="1800" dirty="0"/>
          </a:p>
        </p:txBody>
      </p:sp>
      <p:sp>
        <p:nvSpPr>
          <p:cNvPr id="26" name="Step text 4"/>
          <p:cNvSpPr txBox="1"/>
          <p:nvPr/>
        </p:nvSpPr>
        <p:spPr>
          <a:xfrm>
            <a:off x="7543800" y="3337560"/>
            <a:ext cx="1645920" cy="914400"/>
          </a:xfrm>
          <a:prstGeom prst="rect">
            <a:avLst/>
          </a:prstGeom>
          <a:noFill/>
          <a:ln/>
        </p:spPr>
        <p:txBody>
          <a:bodyPr wrap="square" lIns="0" tIns="0" rIns="0" bIns="0" rtlCol="0" anchor="t"/>
          <a:lstStyle/>
          <a:p>
            <a:pPr marL="0" indent="0" algn="ctr">
              <a:buNone/>
            </a:pPr>
            <a:r>
              <a:rPr lang="en-US" sz="1400" dirty="0">
                <a:solidFill>
                  <a:schemeClr val="bg1"/>
                </a:solidFill>
              </a:rPr>
              <a:t>Evaluadores puntúan cada interacción</a:t>
            </a:r>
            <a:endParaRPr lang="en-US" sz="1400" dirty="0"/>
          </a:p>
        </p:txBody>
      </p:sp>
      <p:sp>
        <p:nvSpPr>
          <p:cNvPr id="27" name="Arrow 4"/>
          <p:cNvSpPr/>
          <p:nvPr/>
        </p:nvSpPr>
        <p:spPr>
          <a:xfrm>
            <a:off x="9363456" y="3017520"/>
            <a:ext cx="292608" cy="0"/>
          </a:xfrm>
          <a:prstGeom prst="line">
            <a:avLst/>
          </a:prstGeom>
          <a:noFill/>
          <a:ln w="25400">
            <a:solidFill>
              <a:schemeClr val="accent5"/>
            </a:solidFill>
            <a:prstDash val="solid"/>
            <a:tailEnd type="triangle"/>
          </a:ln>
        </p:spPr>
        <p:txBody>
          <a:bodyPr/>
          <a:lstStyle/>
          <a:p>
            <a:endParaRPr lang="en-001"/>
          </a:p>
        </p:txBody>
      </p:sp>
      <p:sp>
        <p:nvSpPr>
          <p:cNvPr id="28" name="Step card 5"/>
          <p:cNvSpPr/>
          <p:nvPr/>
        </p:nvSpPr>
        <p:spPr>
          <a:xfrm>
            <a:off x="9692640" y="1645920"/>
            <a:ext cx="1920240" cy="2743200"/>
          </a:xfrm>
          <a:prstGeom prst="roundRect">
            <a:avLst>
              <a:gd name="adj" fmla="val 5714"/>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29" name="Informe circle"/>
          <p:cNvSpPr/>
          <p:nvPr/>
        </p:nvSpPr>
        <p:spPr>
          <a:xfrm>
            <a:off x="10241280" y="1874520"/>
            <a:ext cx="822960" cy="822960"/>
          </a:xfrm>
          <a:prstGeom prst="ellipse">
            <a:avLst/>
          </a:prstGeom>
          <a:solidFill>
            <a:schemeClr val="accent1"/>
          </a:solidFill>
          <a:ln/>
        </p:spPr>
        <p:txBody>
          <a:bodyPr/>
          <a:lstStyle/>
          <a:p>
            <a:endParaRPr lang="en-001"/>
          </a:p>
        </p:txBody>
      </p:sp>
      <p:pic>
        <p:nvPicPr>
          <p:cNvPr id="30" name="Informe" descr="Informe"/>
          <p:cNvPicPr>
            <a:picLocks noChangeAspect="1"/>
          </p:cNvPicPr>
          <p:nvPr/>
        </p:nvPicPr>
        <p:blipFill>
          <a:blip r:embed="rId7"/>
          <a:stretch>
            <a:fillRect/>
          </a:stretch>
        </p:blipFill>
        <p:spPr>
          <a:xfrm>
            <a:off x="10447020" y="2080260"/>
            <a:ext cx="411480" cy="411480"/>
          </a:xfrm>
          <a:prstGeom prst="rect">
            <a:avLst/>
          </a:prstGeom>
        </p:spPr>
      </p:pic>
      <p:sp>
        <p:nvSpPr>
          <p:cNvPr id="31" name="Step title 5"/>
          <p:cNvSpPr txBox="1"/>
          <p:nvPr/>
        </p:nvSpPr>
        <p:spPr>
          <a:xfrm>
            <a:off x="9784080" y="2834640"/>
            <a:ext cx="1737360" cy="457200"/>
          </a:xfrm>
          <a:prstGeom prst="rect">
            <a:avLst/>
          </a:prstGeom>
          <a:noFill/>
          <a:ln/>
        </p:spPr>
        <p:txBody>
          <a:bodyPr wrap="square" lIns="0" tIns="0" rIns="0" bIns="0" rtlCol="0" anchor="ctr"/>
          <a:lstStyle/>
          <a:p>
            <a:pPr marL="0" indent="0" algn="ctr">
              <a:buNone/>
            </a:pPr>
            <a:r>
              <a:rPr lang="en-US" sz="1800" b="1" dirty="0">
                <a:solidFill>
                  <a:schemeClr val="tx2"/>
                </a:solidFill>
              </a:rPr>
              <a:t>Informe</a:t>
            </a:r>
            <a:endParaRPr lang="en-US" sz="1800" dirty="0"/>
          </a:p>
        </p:txBody>
      </p:sp>
      <p:sp>
        <p:nvSpPr>
          <p:cNvPr id="32" name="Step text 5"/>
          <p:cNvSpPr txBox="1"/>
          <p:nvPr/>
        </p:nvSpPr>
        <p:spPr>
          <a:xfrm>
            <a:off x="9829800" y="3337560"/>
            <a:ext cx="1645920" cy="914400"/>
          </a:xfrm>
          <a:prstGeom prst="rect">
            <a:avLst/>
          </a:prstGeom>
          <a:noFill/>
          <a:ln/>
        </p:spPr>
        <p:txBody>
          <a:bodyPr wrap="square" lIns="0" tIns="0" rIns="0" bIns="0" rtlCol="0" anchor="t"/>
          <a:lstStyle/>
          <a:p>
            <a:pPr marL="0" indent="0" algn="ctr">
              <a:buNone/>
            </a:pPr>
            <a:r>
              <a:rPr lang="en-US" sz="1400" dirty="0">
                <a:solidFill>
                  <a:schemeClr val="tx1"/>
                </a:solidFill>
              </a:rPr>
              <a:t>Aprobados y suspensos por criterio</a:t>
            </a:r>
            <a:endParaRPr lang="en-US" sz="1400" dirty="0"/>
          </a:p>
        </p:txBody>
      </p:sp>
      <p:sp>
        <p:nvSpPr>
          <p:cNvPr id="33" name="Key message"/>
          <p:cNvSpPr txBox="1"/>
          <p:nvPr/>
        </p:nvSpPr>
        <p:spPr>
          <a:xfrm>
            <a:off x="548640" y="5029200"/>
            <a:ext cx="11091672" cy="640080"/>
          </a:xfrm>
          <a:prstGeom prst="rect">
            <a:avLst/>
          </a:prstGeom>
          <a:noFill/>
          <a:ln/>
        </p:spPr>
        <p:txBody>
          <a:bodyPr wrap="square" lIns="0" tIns="0" rIns="0" bIns="0" rtlCol="0" anchor="ctr"/>
          <a:lstStyle/>
          <a:p>
            <a:pPr marL="0" indent="0">
              <a:buNone/>
            </a:pPr>
            <a:r>
              <a:rPr lang="en-US" sz="1800" b="1" dirty="0">
                <a:solidFill>
                  <a:schemeClr val="accent1"/>
                </a:solidFill>
              </a:rPr>
              <a:t>Clave: </a:t>
            </a:r>
            <a:r>
              <a:rPr lang="en-US" sz="1800" dirty="0">
                <a:solidFill>
                  <a:schemeClr val="tx1"/>
                </a:solidFill>
              </a:rPr>
              <a:t>no se repiten las preguntas al agente. Se evalúa lo que los usuarios ya han vivido.</a:t>
            </a:r>
            <a:endParaRPr lang="en-US" sz="18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2"/>
                </a:solidFill>
              </a:rPr>
              <a:t>Por qué lo hacemos</a:t>
            </a:r>
            <a:endParaRPr lang="en-US" sz="3400" dirty="0"/>
          </a:p>
        </p:txBody>
      </p:sp>
      <p:sp>
        <p:nvSpPr>
          <p:cNvPr id="4" name="Reason card 1"/>
          <p:cNvSpPr/>
          <p:nvPr/>
        </p:nvSpPr>
        <p:spPr>
          <a:xfrm>
            <a:off x="548640" y="1554480"/>
            <a:ext cx="3566160" cy="4023360"/>
          </a:xfrm>
          <a:prstGeom prst="roundRect">
            <a:avLst>
              <a:gd name="adj" fmla="val 3077"/>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5" name="Detectar a tiempo circle"/>
          <p:cNvSpPr/>
          <p:nvPr/>
        </p:nvSpPr>
        <p:spPr>
          <a:xfrm>
            <a:off x="914400" y="1920240"/>
            <a:ext cx="1005840" cy="1005840"/>
          </a:xfrm>
          <a:prstGeom prst="ellipse">
            <a:avLst/>
          </a:prstGeom>
          <a:solidFill>
            <a:schemeClr val="accent1"/>
          </a:solidFill>
          <a:ln/>
        </p:spPr>
        <p:txBody>
          <a:bodyPr/>
          <a:lstStyle/>
          <a:p>
            <a:endParaRPr lang="en-001"/>
          </a:p>
        </p:txBody>
      </p:sp>
      <p:pic>
        <p:nvPicPr>
          <p:cNvPr id="6" name="Detectar a tiempo" descr="Detectar a tiempo"/>
          <p:cNvPicPr>
            <a:picLocks noChangeAspect="1"/>
          </p:cNvPicPr>
          <p:nvPr/>
        </p:nvPicPr>
        <p:blipFill>
          <a:blip r:embed="rId3"/>
          <a:stretch>
            <a:fillRect/>
          </a:stretch>
        </p:blipFill>
        <p:spPr>
          <a:xfrm>
            <a:off x="1165860" y="2171700"/>
            <a:ext cx="502920" cy="502920"/>
          </a:xfrm>
          <a:prstGeom prst="rect">
            <a:avLst/>
          </a:prstGeom>
        </p:spPr>
      </p:pic>
      <p:sp>
        <p:nvSpPr>
          <p:cNvPr id="7" name="Reason title 1"/>
          <p:cNvSpPr txBox="1"/>
          <p:nvPr/>
        </p:nvSpPr>
        <p:spPr>
          <a:xfrm>
            <a:off x="914400" y="3200400"/>
            <a:ext cx="2834640" cy="548640"/>
          </a:xfrm>
          <a:prstGeom prst="rect">
            <a:avLst/>
          </a:prstGeom>
          <a:noFill/>
          <a:ln/>
        </p:spPr>
        <p:txBody>
          <a:bodyPr wrap="square" lIns="0" tIns="0" rIns="0" bIns="0" rtlCol="0" anchor="ctr"/>
          <a:lstStyle/>
          <a:p>
            <a:pPr marL="0" indent="0">
              <a:buNone/>
            </a:pPr>
            <a:r>
              <a:rPr lang="en-US" sz="2400" b="1" dirty="0">
                <a:solidFill>
                  <a:schemeClr val="tx2"/>
                </a:solidFill>
              </a:rPr>
              <a:t>Detectar a tiempo</a:t>
            </a:r>
            <a:endParaRPr lang="en-US" sz="2400" dirty="0"/>
          </a:p>
        </p:txBody>
      </p:sp>
      <p:sp>
        <p:nvSpPr>
          <p:cNvPr id="8" name="Reason text 1"/>
          <p:cNvSpPr txBox="1"/>
          <p:nvPr/>
        </p:nvSpPr>
        <p:spPr>
          <a:xfrm>
            <a:off x="914400" y="3840480"/>
            <a:ext cx="2834640" cy="1554480"/>
          </a:xfrm>
          <a:prstGeom prst="rect">
            <a:avLst/>
          </a:prstGeom>
          <a:noFill/>
          <a:ln/>
        </p:spPr>
        <p:txBody>
          <a:bodyPr wrap="square" lIns="0" tIns="0" rIns="0" bIns="0" rtlCol="0" anchor="t"/>
          <a:lstStyle/>
          <a:p>
            <a:pPr marL="0" indent="0">
              <a:buNone/>
            </a:pPr>
            <a:r>
              <a:rPr lang="en-US" sz="1600" dirty="0">
                <a:solidFill>
                  <a:schemeClr val="tx1"/>
                </a:solidFill>
              </a:rPr>
              <a:t>Ver regresiones de calidad, tono o seguridad antes de que las notifiquen los usuarios.</a:t>
            </a:r>
            <a:endParaRPr lang="en-US" sz="1600" dirty="0"/>
          </a:p>
        </p:txBody>
      </p:sp>
      <p:sp>
        <p:nvSpPr>
          <p:cNvPr id="9" name="Reason card 2"/>
          <p:cNvSpPr/>
          <p:nvPr/>
        </p:nvSpPr>
        <p:spPr>
          <a:xfrm>
            <a:off x="4311396" y="1554480"/>
            <a:ext cx="3566160" cy="4023360"/>
          </a:xfrm>
          <a:prstGeom prst="roundRect">
            <a:avLst>
              <a:gd name="adj" fmla="val 3077"/>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10" name="Revisar a escala circle"/>
          <p:cNvSpPr/>
          <p:nvPr/>
        </p:nvSpPr>
        <p:spPr>
          <a:xfrm>
            <a:off x="4677156" y="1920240"/>
            <a:ext cx="1005840" cy="1005840"/>
          </a:xfrm>
          <a:prstGeom prst="ellipse">
            <a:avLst/>
          </a:prstGeom>
          <a:solidFill>
            <a:schemeClr val="accent1"/>
          </a:solidFill>
          <a:ln/>
        </p:spPr>
        <p:txBody>
          <a:bodyPr/>
          <a:lstStyle/>
          <a:p>
            <a:endParaRPr lang="en-001"/>
          </a:p>
        </p:txBody>
      </p:sp>
      <p:pic>
        <p:nvPicPr>
          <p:cNvPr id="11" name="Revisar a escala" descr="Revisar a escala"/>
          <p:cNvPicPr>
            <a:picLocks noChangeAspect="1"/>
          </p:cNvPicPr>
          <p:nvPr/>
        </p:nvPicPr>
        <p:blipFill>
          <a:blip r:embed="rId4"/>
          <a:stretch>
            <a:fillRect/>
          </a:stretch>
        </p:blipFill>
        <p:spPr>
          <a:xfrm>
            <a:off x="4928616" y="2171700"/>
            <a:ext cx="502920" cy="502920"/>
          </a:xfrm>
          <a:prstGeom prst="rect">
            <a:avLst/>
          </a:prstGeom>
        </p:spPr>
      </p:pic>
      <p:sp>
        <p:nvSpPr>
          <p:cNvPr id="12" name="Reason title 2"/>
          <p:cNvSpPr txBox="1"/>
          <p:nvPr/>
        </p:nvSpPr>
        <p:spPr>
          <a:xfrm>
            <a:off x="4677156" y="3200400"/>
            <a:ext cx="2834640" cy="548640"/>
          </a:xfrm>
          <a:prstGeom prst="rect">
            <a:avLst/>
          </a:prstGeom>
          <a:noFill/>
          <a:ln/>
        </p:spPr>
        <p:txBody>
          <a:bodyPr wrap="square" lIns="0" tIns="0" rIns="0" bIns="0" rtlCol="0" anchor="ctr"/>
          <a:lstStyle/>
          <a:p>
            <a:pPr marL="0" indent="0">
              <a:buNone/>
            </a:pPr>
            <a:r>
              <a:rPr lang="en-US" sz="2400" b="1" dirty="0">
                <a:solidFill>
                  <a:schemeClr val="tx2"/>
                </a:solidFill>
              </a:rPr>
              <a:t>Revisar a escala</a:t>
            </a:r>
            <a:endParaRPr lang="en-US" sz="2400" dirty="0"/>
          </a:p>
        </p:txBody>
      </p:sp>
      <p:sp>
        <p:nvSpPr>
          <p:cNvPr id="13" name="Reason text 2"/>
          <p:cNvSpPr txBox="1"/>
          <p:nvPr/>
        </p:nvSpPr>
        <p:spPr>
          <a:xfrm>
            <a:off x="4677156" y="3840480"/>
            <a:ext cx="2834640" cy="1554480"/>
          </a:xfrm>
          <a:prstGeom prst="rect">
            <a:avLst/>
          </a:prstGeom>
          <a:noFill/>
          <a:ln/>
        </p:spPr>
        <p:txBody>
          <a:bodyPr wrap="square" lIns="0" tIns="0" rIns="0" bIns="0" rtlCol="0" anchor="t"/>
          <a:lstStyle/>
          <a:p>
            <a:pPr marL="0" indent="0">
              <a:buNone/>
            </a:pPr>
            <a:r>
              <a:rPr lang="en-US" sz="1600" dirty="0">
                <a:solidFill>
                  <a:schemeClr val="tx1"/>
                </a:solidFill>
              </a:rPr>
              <a:t>Una persona no puede leer cada conversación. Un evaluador puede puntuarlas todas.</a:t>
            </a:r>
            <a:endParaRPr lang="en-US" sz="1600" dirty="0"/>
          </a:p>
        </p:txBody>
      </p:sp>
      <p:sp>
        <p:nvSpPr>
          <p:cNvPr id="14" name="Reason card 3"/>
          <p:cNvSpPr/>
          <p:nvPr/>
        </p:nvSpPr>
        <p:spPr>
          <a:xfrm>
            <a:off x="8074152" y="1554480"/>
            <a:ext cx="3566160" cy="4023360"/>
          </a:xfrm>
          <a:prstGeom prst="roundRect">
            <a:avLst>
              <a:gd name="adj" fmla="val 3077"/>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15" name="Decidir con criterio circle"/>
          <p:cNvSpPr/>
          <p:nvPr/>
        </p:nvSpPr>
        <p:spPr>
          <a:xfrm>
            <a:off x="8439912" y="1920240"/>
            <a:ext cx="1005840" cy="1005840"/>
          </a:xfrm>
          <a:prstGeom prst="ellipse">
            <a:avLst/>
          </a:prstGeom>
          <a:solidFill>
            <a:schemeClr val="accent1"/>
          </a:solidFill>
          <a:ln/>
        </p:spPr>
        <p:txBody>
          <a:bodyPr/>
          <a:lstStyle/>
          <a:p>
            <a:endParaRPr lang="en-001"/>
          </a:p>
        </p:txBody>
      </p:sp>
      <p:pic>
        <p:nvPicPr>
          <p:cNvPr id="16" name="Decidir con criterio" descr="Decidir con criterio"/>
          <p:cNvPicPr>
            <a:picLocks noChangeAspect="1"/>
          </p:cNvPicPr>
          <p:nvPr/>
        </p:nvPicPr>
        <p:blipFill>
          <a:blip r:embed="rId5"/>
          <a:stretch>
            <a:fillRect/>
          </a:stretch>
        </p:blipFill>
        <p:spPr>
          <a:xfrm>
            <a:off x="8691372" y="2171700"/>
            <a:ext cx="502920" cy="502920"/>
          </a:xfrm>
          <a:prstGeom prst="rect">
            <a:avLst/>
          </a:prstGeom>
        </p:spPr>
      </p:pic>
      <p:sp>
        <p:nvSpPr>
          <p:cNvPr id="17" name="Reason title 3"/>
          <p:cNvSpPr txBox="1"/>
          <p:nvPr/>
        </p:nvSpPr>
        <p:spPr>
          <a:xfrm>
            <a:off x="8439912" y="3200400"/>
            <a:ext cx="2834640" cy="548640"/>
          </a:xfrm>
          <a:prstGeom prst="rect">
            <a:avLst/>
          </a:prstGeom>
          <a:noFill/>
          <a:ln/>
        </p:spPr>
        <p:txBody>
          <a:bodyPr wrap="square" lIns="0" tIns="0" rIns="0" bIns="0" rtlCol="0" anchor="ctr"/>
          <a:lstStyle/>
          <a:p>
            <a:pPr marL="0" indent="0">
              <a:buNone/>
            </a:pPr>
            <a:r>
              <a:rPr lang="en-US" sz="2400" b="1" dirty="0">
                <a:solidFill>
                  <a:schemeClr val="tx2"/>
                </a:solidFill>
              </a:rPr>
              <a:t>Decidir con criterio</a:t>
            </a:r>
            <a:endParaRPr lang="en-US" sz="2400" dirty="0"/>
          </a:p>
        </p:txBody>
      </p:sp>
      <p:sp>
        <p:nvSpPr>
          <p:cNvPr id="18" name="Reason text 3"/>
          <p:cNvSpPr txBox="1"/>
          <p:nvPr/>
        </p:nvSpPr>
        <p:spPr>
          <a:xfrm>
            <a:off x="8439912" y="3840480"/>
            <a:ext cx="2834640" cy="1554480"/>
          </a:xfrm>
          <a:prstGeom prst="rect">
            <a:avLst/>
          </a:prstGeom>
          <a:noFill/>
          <a:ln/>
        </p:spPr>
        <p:txBody>
          <a:bodyPr wrap="square" lIns="0" tIns="0" rIns="0" bIns="0" rtlCol="0" anchor="t"/>
          <a:lstStyle/>
          <a:p>
            <a:pPr marL="0" indent="0">
              <a:buNone/>
            </a:pPr>
            <a:r>
              <a:rPr lang="en-US" sz="1600" dirty="0">
                <a:solidFill>
                  <a:schemeClr val="tx1"/>
                </a:solidFill>
              </a:rPr>
              <a:t>Umbrales explícitos y resultados comparables entre versiones del agente.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2"/>
                </a:solidFill>
              </a:rPr>
              <a:t>El valor de usar interacciones reales</a:t>
            </a:r>
            <a:endParaRPr lang="en-US" sz="3400" dirty="0"/>
          </a:p>
        </p:txBody>
      </p:sp>
      <p:sp>
        <p:nvSpPr>
          <p:cNvPr id="4" name="Synthetic card"/>
          <p:cNvSpPr/>
          <p:nvPr/>
        </p:nvSpPr>
        <p:spPr>
          <a:xfrm>
            <a:off x="548640" y="1463040"/>
            <a:ext cx="5303520" cy="4480560"/>
          </a:xfrm>
          <a:prstGeom prst="roundRect">
            <a:avLst>
              <a:gd name="adj" fmla="val 2449"/>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5" name="Synthetic head"/>
          <p:cNvSpPr txBox="1"/>
          <p:nvPr/>
        </p:nvSpPr>
        <p:spPr>
          <a:xfrm>
            <a:off x="914400" y="1691640"/>
            <a:ext cx="4572000" cy="457200"/>
          </a:xfrm>
          <a:prstGeom prst="rect">
            <a:avLst/>
          </a:prstGeom>
          <a:noFill/>
          <a:ln/>
        </p:spPr>
        <p:txBody>
          <a:bodyPr wrap="square" lIns="0" tIns="0" rIns="0" bIns="0" rtlCol="0" anchor="ctr"/>
          <a:lstStyle/>
          <a:p>
            <a:pPr marL="0" indent="0">
              <a:buNone/>
            </a:pPr>
            <a:r>
              <a:rPr lang="en-US" sz="2200" b="1" dirty="0">
                <a:solidFill>
                  <a:schemeClr val="accent5"/>
                </a:solidFill>
              </a:rPr>
              <a:t>Pruebas sintéticas</a:t>
            </a:r>
            <a:endParaRPr lang="en-US" sz="2200" dirty="0"/>
          </a:p>
        </p:txBody>
      </p:sp>
      <p:sp>
        <p:nvSpPr>
          <p:cNvPr id="6" name="Synthetic list"/>
          <p:cNvSpPr txBox="1"/>
          <p:nvPr/>
        </p:nvSpPr>
        <p:spPr>
          <a:xfrm>
            <a:off x="914400" y="2377440"/>
            <a:ext cx="4572000" cy="32918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Reflejan lo que imaginamos</a:t>
            </a:r>
            <a:endParaRPr lang="en-US" sz="1800" dirty="0"/>
          </a:p>
          <a:p>
            <a:pPr marL="342900" indent="-342900">
              <a:spcAft>
                <a:spcPts val="1200"/>
              </a:spcAft>
              <a:buSzPct val="100000"/>
              <a:buChar char="•"/>
            </a:pPr>
            <a:r>
              <a:rPr lang="en-US" sz="1800" dirty="0">
                <a:solidFill>
                  <a:schemeClr val="tx1"/>
                </a:solidFill>
              </a:rPr>
              <a:t>Hay que mantener y actualizar el dataset</a:t>
            </a:r>
            <a:endParaRPr lang="en-US" sz="1800" dirty="0"/>
          </a:p>
          <a:p>
            <a:pPr marL="342900" indent="-342900">
              <a:spcAft>
                <a:spcPts val="1200"/>
              </a:spcAft>
              <a:buSzPct val="100000"/>
              <a:buChar char="•"/>
            </a:pPr>
            <a:r>
              <a:rPr lang="en-US" sz="1800" dirty="0">
                <a:solidFill>
                  <a:schemeClr val="tx1"/>
                </a:solidFill>
              </a:rPr>
              <a:t>Cubren casos conocidos</a:t>
            </a:r>
            <a:endParaRPr lang="en-US" sz="1800" dirty="0"/>
          </a:p>
          <a:p>
            <a:pPr marL="342900" indent="-342900">
              <a:spcAft>
                <a:spcPts val="1200"/>
              </a:spcAft>
              <a:buSzPct val="100000"/>
              <a:buChar char="•"/>
            </a:pPr>
            <a:r>
              <a:rPr lang="en-US" sz="1800" dirty="0">
                <a:solidFill>
                  <a:schemeClr val="tx1"/>
                </a:solidFill>
              </a:rPr>
              <a:t>Se ejecutan antes, no durante el uso</a:t>
            </a:r>
            <a:endParaRPr lang="en-US" sz="1800" dirty="0"/>
          </a:p>
        </p:txBody>
      </p:sp>
      <p:sp>
        <p:nvSpPr>
          <p:cNvPr id="7" name="Real card"/>
          <p:cNvSpPr/>
          <p:nvPr/>
        </p:nvSpPr>
        <p:spPr>
          <a:xfrm>
            <a:off x="6336792" y="1463040"/>
            <a:ext cx="5303520" cy="4480560"/>
          </a:xfrm>
          <a:prstGeom prst="roundRect">
            <a:avLst>
              <a:gd name="adj" fmla="val 2449"/>
            </a:avLst>
          </a:prstGeom>
          <a:solidFill>
            <a:schemeClr val="accent1"/>
          </a:solidFill>
          <a:ln/>
          <a:effectLst>
            <a:outerShdw blurRad="101600" dist="25400" dir="5400000" algn="bl" rotWithShape="0">
              <a:srgbClr val="000000">
                <a:alpha val="12000"/>
              </a:srgbClr>
            </a:outerShdw>
          </a:effectLst>
        </p:spPr>
        <p:txBody>
          <a:bodyPr/>
          <a:lstStyle/>
          <a:p>
            <a:endParaRPr lang="en-001"/>
          </a:p>
        </p:txBody>
      </p:sp>
      <p:sp>
        <p:nvSpPr>
          <p:cNvPr id="8" name="Real head"/>
          <p:cNvSpPr txBox="1"/>
          <p:nvPr/>
        </p:nvSpPr>
        <p:spPr>
          <a:xfrm>
            <a:off x="6702552" y="1691640"/>
            <a:ext cx="4572000" cy="457200"/>
          </a:xfrm>
          <a:prstGeom prst="rect">
            <a:avLst/>
          </a:prstGeom>
          <a:noFill/>
          <a:ln/>
        </p:spPr>
        <p:txBody>
          <a:bodyPr wrap="square" lIns="0" tIns="0" rIns="0" bIns="0" rtlCol="0" anchor="ctr"/>
          <a:lstStyle/>
          <a:p>
            <a:pPr marL="0" indent="0">
              <a:buNone/>
            </a:pPr>
            <a:r>
              <a:rPr lang="en-US" sz="2200" b="1" dirty="0">
                <a:solidFill>
                  <a:schemeClr val="bg1"/>
                </a:solidFill>
              </a:rPr>
              <a:t>Interacciones reales</a:t>
            </a:r>
            <a:endParaRPr lang="en-US" sz="2200" dirty="0"/>
          </a:p>
        </p:txBody>
      </p:sp>
      <p:sp>
        <p:nvSpPr>
          <p:cNvPr id="9" name="Real list"/>
          <p:cNvSpPr txBox="1"/>
          <p:nvPr/>
        </p:nvSpPr>
        <p:spPr>
          <a:xfrm>
            <a:off x="6702552" y="2377440"/>
            <a:ext cx="4572000" cy="32918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Reflejan lo que los usuarios hacen de verdad</a:t>
            </a:r>
            <a:endParaRPr lang="en-US" sz="1800" dirty="0"/>
          </a:p>
          <a:p>
            <a:pPr marL="342900" indent="-342900">
              <a:spcAft>
                <a:spcPts val="1200"/>
              </a:spcAft>
              <a:buSzPct val="100000"/>
              <a:buChar char="•"/>
            </a:pPr>
            <a:r>
              <a:rPr lang="en-US" sz="1800" dirty="0">
                <a:solidFill>
                  <a:schemeClr val="bg1"/>
                </a:solidFill>
              </a:rPr>
              <a:t>Sin dataset que mantener: ya están en Application Insights</a:t>
            </a:r>
            <a:endParaRPr lang="en-US" sz="1800" dirty="0"/>
          </a:p>
          <a:p>
            <a:pPr marL="342900" indent="-342900">
              <a:spcAft>
                <a:spcPts val="1200"/>
              </a:spcAft>
              <a:buSzPct val="100000"/>
              <a:buChar char="•"/>
            </a:pPr>
            <a:r>
              <a:rPr lang="en-US" sz="1800" dirty="0">
                <a:solidFill>
                  <a:schemeClr val="bg1"/>
                </a:solidFill>
              </a:rPr>
              <a:t>Descubren casos que no anticipamos</a:t>
            </a:r>
            <a:endParaRPr lang="en-US" sz="1800" dirty="0"/>
          </a:p>
          <a:p>
            <a:pPr marL="342900" indent="-342900">
              <a:spcAft>
                <a:spcPts val="1200"/>
              </a:spcAft>
              <a:buSzPct val="100000"/>
              <a:buChar char="•"/>
            </a:pPr>
            <a:r>
              <a:rPr lang="en-US" sz="1800" dirty="0">
                <a:solidFill>
                  <a:schemeClr val="bg1"/>
                </a:solidFill>
              </a:rPr>
              <a:t>Se evalúan de forma continua, con el agente en producción</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2"/>
                </a:solidFill>
              </a:rPr>
              <a:t>Qué medimos: seis criterios</a:t>
            </a:r>
            <a:endParaRPr lang="en-US" sz="3400" dirty="0"/>
          </a:p>
        </p:txBody>
      </p:sp>
      <p:sp>
        <p:nvSpPr>
          <p:cNvPr id="4" name="Evaluator card 1"/>
          <p:cNvSpPr/>
          <p:nvPr/>
        </p:nvSpPr>
        <p:spPr>
          <a:xfrm>
            <a:off x="548640" y="1463040"/>
            <a:ext cx="3566160" cy="2103120"/>
          </a:xfrm>
          <a:prstGeom prst="roundRect">
            <a:avLst>
              <a:gd name="adj" fmla="val 5217"/>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5" name="Relevancia circle"/>
          <p:cNvSpPr/>
          <p:nvPr/>
        </p:nvSpPr>
        <p:spPr>
          <a:xfrm>
            <a:off x="822960" y="1737360"/>
            <a:ext cx="640080" cy="640080"/>
          </a:xfrm>
          <a:prstGeom prst="ellipse">
            <a:avLst/>
          </a:prstGeom>
          <a:solidFill>
            <a:schemeClr val="accent1"/>
          </a:solidFill>
          <a:ln/>
        </p:spPr>
        <p:txBody>
          <a:bodyPr/>
          <a:lstStyle/>
          <a:p>
            <a:endParaRPr lang="en-001"/>
          </a:p>
        </p:txBody>
      </p:sp>
      <p:pic>
        <p:nvPicPr>
          <p:cNvPr id="6" name="Relevancia" descr="Relevancia"/>
          <p:cNvPicPr>
            <a:picLocks noChangeAspect="1"/>
          </p:cNvPicPr>
          <p:nvPr/>
        </p:nvPicPr>
        <p:blipFill>
          <a:blip r:embed="rId3"/>
          <a:stretch>
            <a:fillRect/>
          </a:stretch>
        </p:blipFill>
        <p:spPr>
          <a:xfrm>
            <a:off x="982980" y="1897380"/>
            <a:ext cx="320040" cy="320040"/>
          </a:xfrm>
          <a:prstGeom prst="rect">
            <a:avLst/>
          </a:prstGeom>
        </p:spPr>
      </p:pic>
      <p:sp>
        <p:nvSpPr>
          <p:cNvPr id="7" name="Evaluator title 1"/>
          <p:cNvSpPr txBox="1"/>
          <p:nvPr/>
        </p:nvSpPr>
        <p:spPr>
          <a:xfrm>
            <a:off x="1600200" y="1737360"/>
            <a:ext cx="2286000" cy="640080"/>
          </a:xfrm>
          <a:prstGeom prst="rect">
            <a:avLst/>
          </a:prstGeom>
          <a:noFill/>
          <a:ln/>
        </p:spPr>
        <p:txBody>
          <a:bodyPr wrap="square" lIns="0" tIns="0" rIns="0" bIns="0" rtlCol="0" anchor="ctr"/>
          <a:lstStyle/>
          <a:p>
            <a:pPr marL="0" indent="0">
              <a:buNone/>
            </a:pPr>
            <a:r>
              <a:rPr lang="en-US" sz="1800" b="1" dirty="0">
                <a:solidFill>
                  <a:schemeClr val="tx2"/>
                </a:solidFill>
              </a:rPr>
              <a:t>Relevancia</a:t>
            </a:r>
            <a:endParaRPr lang="en-US" sz="1800" dirty="0"/>
          </a:p>
        </p:txBody>
      </p:sp>
      <p:sp>
        <p:nvSpPr>
          <p:cNvPr id="8" name="Evaluator desc 1"/>
          <p:cNvSpPr txBox="1"/>
          <p:nvPr/>
        </p:nvSpPr>
        <p:spPr>
          <a:xfrm>
            <a:off x="822960" y="2468880"/>
            <a:ext cx="3017520" cy="548640"/>
          </a:xfrm>
          <a:prstGeom prst="rect">
            <a:avLst/>
          </a:prstGeom>
          <a:noFill/>
          <a:ln/>
        </p:spPr>
        <p:txBody>
          <a:bodyPr wrap="square" lIns="0" tIns="0" rIns="0" bIns="0" rtlCol="0" anchor="t"/>
          <a:lstStyle/>
          <a:p>
            <a:pPr marL="0" indent="0">
              <a:buNone/>
            </a:pPr>
            <a:r>
              <a:rPr lang="en-US" sz="1400" dirty="0">
                <a:solidFill>
                  <a:schemeClr val="tx1"/>
                </a:solidFill>
              </a:rPr>
              <a:t>¿Responde a lo que se preguntó?</a:t>
            </a:r>
            <a:endParaRPr lang="en-US" sz="1400" dirty="0"/>
          </a:p>
        </p:txBody>
      </p:sp>
      <p:sp>
        <p:nvSpPr>
          <p:cNvPr id="9" name="Evaluator rule 1"/>
          <p:cNvSpPr txBox="1"/>
          <p:nvPr/>
        </p:nvSpPr>
        <p:spPr>
          <a:xfrm>
            <a:off x="822960" y="3063240"/>
            <a:ext cx="3017520" cy="320040"/>
          </a:xfrm>
          <a:prstGeom prst="rect">
            <a:avLst/>
          </a:prstGeom>
          <a:noFill/>
          <a:ln/>
        </p:spPr>
        <p:txBody>
          <a:bodyPr wrap="square" lIns="0" tIns="0" rIns="0" bIns="0" rtlCol="0" anchor="ctr"/>
          <a:lstStyle/>
          <a:p>
            <a:pPr marL="0" indent="0">
              <a:buNone/>
            </a:pPr>
            <a:r>
              <a:rPr lang="en-US" sz="1400" b="1" dirty="0">
                <a:solidFill>
                  <a:schemeClr val="accent1"/>
                </a:solidFill>
              </a:rPr>
              <a:t>1–5 · mínimo 3</a:t>
            </a:r>
            <a:endParaRPr lang="en-US" sz="1400" dirty="0"/>
          </a:p>
        </p:txBody>
      </p:sp>
      <p:sp>
        <p:nvSpPr>
          <p:cNvPr id="10" name="Evaluator card 2"/>
          <p:cNvSpPr/>
          <p:nvPr/>
        </p:nvSpPr>
        <p:spPr>
          <a:xfrm>
            <a:off x="4297680" y="1463040"/>
            <a:ext cx="3566160" cy="2103120"/>
          </a:xfrm>
          <a:prstGeom prst="roundRect">
            <a:avLst>
              <a:gd name="adj" fmla="val 5217"/>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11" name="Coherencia circle"/>
          <p:cNvSpPr/>
          <p:nvPr/>
        </p:nvSpPr>
        <p:spPr>
          <a:xfrm>
            <a:off x="4572000" y="1737360"/>
            <a:ext cx="640080" cy="640080"/>
          </a:xfrm>
          <a:prstGeom prst="ellipse">
            <a:avLst/>
          </a:prstGeom>
          <a:solidFill>
            <a:schemeClr val="accent1"/>
          </a:solidFill>
          <a:ln/>
        </p:spPr>
        <p:txBody>
          <a:bodyPr/>
          <a:lstStyle/>
          <a:p>
            <a:endParaRPr lang="en-001"/>
          </a:p>
        </p:txBody>
      </p:sp>
      <p:pic>
        <p:nvPicPr>
          <p:cNvPr id="12" name="Coherencia" descr="Coherencia"/>
          <p:cNvPicPr>
            <a:picLocks noChangeAspect="1"/>
          </p:cNvPicPr>
          <p:nvPr/>
        </p:nvPicPr>
        <p:blipFill>
          <a:blip r:embed="rId4"/>
          <a:stretch>
            <a:fillRect/>
          </a:stretch>
        </p:blipFill>
        <p:spPr>
          <a:xfrm>
            <a:off x="4732020" y="1897380"/>
            <a:ext cx="320040" cy="320040"/>
          </a:xfrm>
          <a:prstGeom prst="rect">
            <a:avLst/>
          </a:prstGeom>
        </p:spPr>
      </p:pic>
      <p:sp>
        <p:nvSpPr>
          <p:cNvPr id="13" name="Evaluator title 2"/>
          <p:cNvSpPr txBox="1"/>
          <p:nvPr/>
        </p:nvSpPr>
        <p:spPr>
          <a:xfrm>
            <a:off x="5349240" y="1737360"/>
            <a:ext cx="2286000" cy="640080"/>
          </a:xfrm>
          <a:prstGeom prst="rect">
            <a:avLst/>
          </a:prstGeom>
          <a:noFill/>
          <a:ln/>
        </p:spPr>
        <p:txBody>
          <a:bodyPr wrap="square" lIns="0" tIns="0" rIns="0" bIns="0" rtlCol="0" anchor="ctr"/>
          <a:lstStyle/>
          <a:p>
            <a:pPr marL="0" indent="0">
              <a:buNone/>
            </a:pPr>
            <a:r>
              <a:rPr lang="en-US" sz="1800" b="1" dirty="0">
                <a:solidFill>
                  <a:schemeClr val="tx2"/>
                </a:solidFill>
              </a:rPr>
              <a:t>Coherencia</a:t>
            </a:r>
            <a:endParaRPr lang="en-US" sz="1800" dirty="0"/>
          </a:p>
        </p:txBody>
      </p:sp>
      <p:sp>
        <p:nvSpPr>
          <p:cNvPr id="14" name="Evaluator desc 2"/>
          <p:cNvSpPr txBox="1"/>
          <p:nvPr/>
        </p:nvSpPr>
        <p:spPr>
          <a:xfrm>
            <a:off x="4572000" y="2468880"/>
            <a:ext cx="3017520" cy="548640"/>
          </a:xfrm>
          <a:prstGeom prst="rect">
            <a:avLst/>
          </a:prstGeom>
          <a:noFill/>
          <a:ln/>
        </p:spPr>
        <p:txBody>
          <a:bodyPr wrap="square" lIns="0" tIns="0" rIns="0" bIns="0" rtlCol="0" anchor="t"/>
          <a:lstStyle/>
          <a:p>
            <a:pPr marL="0" indent="0">
              <a:buNone/>
            </a:pPr>
            <a:r>
              <a:rPr lang="en-US" sz="1400" dirty="0">
                <a:solidFill>
                  <a:schemeClr val="tx1"/>
                </a:solidFill>
              </a:rPr>
              <a:t>Organización lógica y consistencia</a:t>
            </a:r>
            <a:endParaRPr lang="en-US" sz="1400" dirty="0"/>
          </a:p>
        </p:txBody>
      </p:sp>
      <p:sp>
        <p:nvSpPr>
          <p:cNvPr id="15" name="Evaluator rule 2"/>
          <p:cNvSpPr txBox="1"/>
          <p:nvPr/>
        </p:nvSpPr>
        <p:spPr>
          <a:xfrm>
            <a:off x="4572000" y="3063240"/>
            <a:ext cx="3017520" cy="320040"/>
          </a:xfrm>
          <a:prstGeom prst="rect">
            <a:avLst/>
          </a:prstGeom>
          <a:noFill/>
          <a:ln/>
        </p:spPr>
        <p:txBody>
          <a:bodyPr wrap="square" lIns="0" tIns="0" rIns="0" bIns="0" rtlCol="0" anchor="ctr"/>
          <a:lstStyle/>
          <a:p>
            <a:pPr marL="0" indent="0">
              <a:buNone/>
            </a:pPr>
            <a:r>
              <a:rPr lang="en-US" sz="1400" b="1" dirty="0">
                <a:solidFill>
                  <a:schemeClr val="accent1"/>
                </a:solidFill>
              </a:rPr>
              <a:t>1–5 · mínimo 3</a:t>
            </a:r>
            <a:endParaRPr lang="en-US" sz="1400" dirty="0"/>
          </a:p>
        </p:txBody>
      </p:sp>
      <p:sp>
        <p:nvSpPr>
          <p:cNvPr id="16" name="Evaluator card 3"/>
          <p:cNvSpPr/>
          <p:nvPr/>
        </p:nvSpPr>
        <p:spPr>
          <a:xfrm>
            <a:off x="8046720" y="1463040"/>
            <a:ext cx="3566160" cy="2103120"/>
          </a:xfrm>
          <a:prstGeom prst="roundRect">
            <a:avLst>
              <a:gd name="adj" fmla="val 5217"/>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17" name="Fluidez circle"/>
          <p:cNvSpPr/>
          <p:nvPr/>
        </p:nvSpPr>
        <p:spPr>
          <a:xfrm>
            <a:off x="8321040" y="1737360"/>
            <a:ext cx="640080" cy="640080"/>
          </a:xfrm>
          <a:prstGeom prst="ellipse">
            <a:avLst/>
          </a:prstGeom>
          <a:solidFill>
            <a:schemeClr val="accent1"/>
          </a:solidFill>
          <a:ln/>
        </p:spPr>
        <p:txBody>
          <a:bodyPr/>
          <a:lstStyle/>
          <a:p>
            <a:endParaRPr lang="en-001"/>
          </a:p>
        </p:txBody>
      </p:sp>
      <p:pic>
        <p:nvPicPr>
          <p:cNvPr id="18" name="Fluidez" descr="Fluidez"/>
          <p:cNvPicPr>
            <a:picLocks noChangeAspect="1"/>
          </p:cNvPicPr>
          <p:nvPr/>
        </p:nvPicPr>
        <p:blipFill>
          <a:blip r:embed="rId5"/>
          <a:stretch>
            <a:fillRect/>
          </a:stretch>
        </p:blipFill>
        <p:spPr>
          <a:xfrm>
            <a:off x="8481060" y="1897380"/>
            <a:ext cx="320040" cy="320040"/>
          </a:xfrm>
          <a:prstGeom prst="rect">
            <a:avLst/>
          </a:prstGeom>
        </p:spPr>
      </p:pic>
      <p:sp>
        <p:nvSpPr>
          <p:cNvPr id="19" name="Evaluator title 3"/>
          <p:cNvSpPr txBox="1"/>
          <p:nvPr/>
        </p:nvSpPr>
        <p:spPr>
          <a:xfrm>
            <a:off x="9098280" y="1737360"/>
            <a:ext cx="2286000" cy="640080"/>
          </a:xfrm>
          <a:prstGeom prst="rect">
            <a:avLst/>
          </a:prstGeom>
          <a:noFill/>
          <a:ln/>
        </p:spPr>
        <p:txBody>
          <a:bodyPr wrap="square" lIns="0" tIns="0" rIns="0" bIns="0" rtlCol="0" anchor="ctr"/>
          <a:lstStyle/>
          <a:p>
            <a:pPr marL="0" indent="0">
              <a:buNone/>
            </a:pPr>
            <a:r>
              <a:rPr lang="en-US" sz="1800" b="1" dirty="0">
                <a:solidFill>
                  <a:schemeClr val="tx2"/>
                </a:solidFill>
              </a:rPr>
              <a:t>Fluidez</a:t>
            </a:r>
            <a:endParaRPr lang="en-US" sz="1800" dirty="0"/>
          </a:p>
        </p:txBody>
      </p:sp>
      <p:sp>
        <p:nvSpPr>
          <p:cNvPr id="20" name="Evaluator desc 3"/>
          <p:cNvSpPr txBox="1"/>
          <p:nvPr/>
        </p:nvSpPr>
        <p:spPr>
          <a:xfrm>
            <a:off x="8321040" y="2468880"/>
            <a:ext cx="3017520" cy="548640"/>
          </a:xfrm>
          <a:prstGeom prst="rect">
            <a:avLst/>
          </a:prstGeom>
          <a:noFill/>
          <a:ln/>
        </p:spPr>
        <p:txBody>
          <a:bodyPr wrap="square" lIns="0" tIns="0" rIns="0" bIns="0" rtlCol="0" anchor="t"/>
          <a:lstStyle/>
          <a:p>
            <a:pPr marL="0" indent="0">
              <a:buNone/>
            </a:pPr>
            <a:r>
              <a:rPr lang="en-US" sz="1400" dirty="0">
                <a:solidFill>
                  <a:schemeClr val="tx1"/>
                </a:solidFill>
              </a:rPr>
              <a:t>Calidad lingüística del texto</a:t>
            </a:r>
            <a:endParaRPr lang="en-US" sz="1400" dirty="0"/>
          </a:p>
        </p:txBody>
      </p:sp>
      <p:sp>
        <p:nvSpPr>
          <p:cNvPr id="21" name="Evaluator rule 3"/>
          <p:cNvSpPr txBox="1"/>
          <p:nvPr/>
        </p:nvSpPr>
        <p:spPr>
          <a:xfrm>
            <a:off x="8321040" y="3063240"/>
            <a:ext cx="3017520" cy="320040"/>
          </a:xfrm>
          <a:prstGeom prst="rect">
            <a:avLst/>
          </a:prstGeom>
          <a:noFill/>
          <a:ln/>
        </p:spPr>
        <p:txBody>
          <a:bodyPr wrap="square" lIns="0" tIns="0" rIns="0" bIns="0" rtlCol="0" anchor="ctr"/>
          <a:lstStyle/>
          <a:p>
            <a:pPr marL="0" indent="0">
              <a:buNone/>
            </a:pPr>
            <a:r>
              <a:rPr lang="en-US" sz="1400" b="1" dirty="0">
                <a:solidFill>
                  <a:schemeClr val="accent1"/>
                </a:solidFill>
              </a:rPr>
              <a:t>1–5 · mínimo 3</a:t>
            </a:r>
            <a:endParaRPr lang="en-US" sz="1400" dirty="0"/>
          </a:p>
        </p:txBody>
      </p:sp>
      <p:sp>
        <p:nvSpPr>
          <p:cNvPr id="22" name="Evaluator card 4"/>
          <p:cNvSpPr/>
          <p:nvPr/>
        </p:nvSpPr>
        <p:spPr>
          <a:xfrm>
            <a:off x="548640" y="3749040"/>
            <a:ext cx="3566160" cy="2103120"/>
          </a:xfrm>
          <a:prstGeom prst="roundRect">
            <a:avLst>
              <a:gd name="adj" fmla="val 5217"/>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23" name="Violencia circle"/>
          <p:cNvSpPr/>
          <p:nvPr/>
        </p:nvSpPr>
        <p:spPr>
          <a:xfrm>
            <a:off x="822960" y="4023360"/>
            <a:ext cx="640080" cy="640080"/>
          </a:xfrm>
          <a:prstGeom prst="ellipse">
            <a:avLst/>
          </a:prstGeom>
          <a:solidFill>
            <a:schemeClr val="accent1"/>
          </a:solidFill>
          <a:ln/>
        </p:spPr>
        <p:txBody>
          <a:bodyPr/>
          <a:lstStyle/>
          <a:p>
            <a:endParaRPr lang="en-001"/>
          </a:p>
        </p:txBody>
      </p:sp>
      <p:pic>
        <p:nvPicPr>
          <p:cNvPr id="24" name="Violencia" descr="Violencia"/>
          <p:cNvPicPr>
            <a:picLocks noChangeAspect="1"/>
          </p:cNvPicPr>
          <p:nvPr/>
        </p:nvPicPr>
        <p:blipFill>
          <a:blip r:embed="rId6"/>
          <a:stretch>
            <a:fillRect/>
          </a:stretch>
        </p:blipFill>
        <p:spPr>
          <a:xfrm>
            <a:off x="982980" y="4183380"/>
            <a:ext cx="320040" cy="320040"/>
          </a:xfrm>
          <a:prstGeom prst="rect">
            <a:avLst/>
          </a:prstGeom>
        </p:spPr>
      </p:pic>
      <p:sp>
        <p:nvSpPr>
          <p:cNvPr id="25" name="Evaluator title 4"/>
          <p:cNvSpPr txBox="1"/>
          <p:nvPr/>
        </p:nvSpPr>
        <p:spPr>
          <a:xfrm>
            <a:off x="1600200" y="4023360"/>
            <a:ext cx="2286000" cy="640080"/>
          </a:xfrm>
          <a:prstGeom prst="rect">
            <a:avLst/>
          </a:prstGeom>
          <a:noFill/>
          <a:ln/>
        </p:spPr>
        <p:txBody>
          <a:bodyPr wrap="square" lIns="0" tIns="0" rIns="0" bIns="0" rtlCol="0" anchor="ctr"/>
          <a:lstStyle/>
          <a:p>
            <a:pPr marL="0" indent="0">
              <a:buNone/>
            </a:pPr>
            <a:r>
              <a:rPr lang="en-US" sz="1800" b="1" dirty="0">
                <a:solidFill>
                  <a:schemeClr val="tx2"/>
                </a:solidFill>
              </a:rPr>
              <a:t>Violencia</a:t>
            </a:r>
            <a:endParaRPr lang="en-US" sz="1800" dirty="0"/>
          </a:p>
        </p:txBody>
      </p:sp>
      <p:sp>
        <p:nvSpPr>
          <p:cNvPr id="26" name="Evaluator desc 4"/>
          <p:cNvSpPr txBox="1"/>
          <p:nvPr/>
        </p:nvSpPr>
        <p:spPr>
          <a:xfrm>
            <a:off x="822960" y="4754880"/>
            <a:ext cx="3017520" cy="548640"/>
          </a:xfrm>
          <a:prstGeom prst="rect">
            <a:avLst/>
          </a:prstGeom>
          <a:noFill/>
          <a:ln/>
        </p:spPr>
        <p:txBody>
          <a:bodyPr wrap="square" lIns="0" tIns="0" rIns="0" bIns="0" rtlCol="0" anchor="t"/>
          <a:lstStyle/>
          <a:p>
            <a:pPr marL="0" indent="0">
              <a:buNone/>
            </a:pPr>
            <a:r>
              <a:rPr lang="en-US" sz="1400" dirty="0">
                <a:solidFill>
                  <a:schemeClr val="tx1"/>
                </a:solidFill>
              </a:rPr>
              <a:t>Severidad de contenido violento</a:t>
            </a:r>
            <a:endParaRPr lang="en-US" sz="1400" dirty="0"/>
          </a:p>
        </p:txBody>
      </p:sp>
      <p:sp>
        <p:nvSpPr>
          <p:cNvPr id="27" name="Evaluator rule 4"/>
          <p:cNvSpPr txBox="1"/>
          <p:nvPr/>
        </p:nvSpPr>
        <p:spPr>
          <a:xfrm>
            <a:off x="822960" y="5349240"/>
            <a:ext cx="3017520" cy="320040"/>
          </a:xfrm>
          <a:prstGeom prst="rect">
            <a:avLst/>
          </a:prstGeom>
          <a:noFill/>
          <a:ln/>
        </p:spPr>
        <p:txBody>
          <a:bodyPr wrap="square" lIns="0" tIns="0" rIns="0" bIns="0" rtlCol="0" anchor="ctr"/>
          <a:lstStyle/>
          <a:p>
            <a:pPr marL="0" indent="0">
              <a:buNone/>
            </a:pPr>
            <a:r>
              <a:rPr lang="en-US" sz="1400" b="1" dirty="0">
                <a:solidFill>
                  <a:schemeClr val="accent1"/>
                </a:solidFill>
              </a:rPr>
              <a:t>0–7 · máximo 3</a:t>
            </a:r>
            <a:endParaRPr lang="en-US" sz="1400" dirty="0"/>
          </a:p>
        </p:txBody>
      </p:sp>
      <p:sp>
        <p:nvSpPr>
          <p:cNvPr id="28" name="Evaluator card 5"/>
          <p:cNvSpPr/>
          <p:nvPr/>
        </p:nvSpPr>
        <p:spPr>
          <a:xfrm>
            <a:off x="4297680" y="3749040"/>
            <a:ext cx="3566160" cy="2103120"/>
          </a:xfrm>
          <a:prstGeom prst="roundRect">
            <a:avLst>
              <a:gd name="adj" fmla="val 5217"/>
            </a:avLst>
          </a:prstGeom>
          <a:solidFill>
            <a:schemeClr val="accent1"/>
          </a:solidFill>
          <a:ln/>
          <a:effectLst>
            <a:outerShdw blurRad="101600" dist="25400" dir="5400000" algn="bl" rotWithShape="0">
              <a:srgbClr val="000000">
                <a:alpha val="12000"/>
              </a:srgbClr>
            </a:outerShdw>
          </a:effectLst>
        </p:spPr>
        <p:txBody>
          <a:bodyPr/>
          <a:lstStyle/>
          <a:p>
            <a:endParaRPr lang="en-001"/>
          </a:p>
        </p:txBody>
      </p:sp>
      <p:sp>
        <p:nvSpPr>
          <p:cNvPr id="29" name="Enlaces oficiales circle"/>
          <p:cNvSpPr/>
          <p:nvPr/>
        </p:nvSpPr>
        <p:spPr>
          <a:xfrm>
            <a:off x="4572000" y="4023360"/>
            <a:ext cx="640080" cy="640080"/>
          </a:xfrm>
          <a:prstGeom prst="ellipse">
            <a:avLst/>
          </a:prstGeom>
          <a:solidFill>
            <a:schemeClr val="bg1"/>
          </a:solidFill>
          <a:ln/>
        </p:spPr>
        <p:txBody>
          <a:bodyPr/>
          <a:lstStyle/>
          <a:p>
            <a:endParaRPr lang="en-001"/>
          </a:p>
        </p:txBody>
      </p:sp>
      <p:pic>
        <p:nvPicPr>
          <p:cNvPr id="30" name="Enlaces oficiales" descr="Enlaces oficiales"/>
          <p:cNvPicPr>
            <a:picLocks noChangeAspect="1"/>
          </p:cNvPicPr>
          <p:nvPr/>
        </p:nvPicPr>
        <p:blipFill>
          <a:blip r:embed="rId7"/>
          <a:stretch>
            <a:fillRect/>
          </a:stretch>
        </p:blipFill>
        <p:spPr>
          <a:xfrm>
            <a:off x="4732020" y="4183380"/>
            <a:ext cx="320040" cy="320040"/>
          </a:xfrm>
          <a:prstGeom prst="rect">
            <a:avLst/>
          </a:prstGeom>
        </p:spPr>
      </p:pic>
      <p:sp>
        <p:nvSpPr>
          <p:cNvPr id="31" name="Evaluator title 5"/>
          <p:cNvSpPr txBox="1"/>
          <p:nvPr/>
        </p:nvSpPr>
        <p:spPr>
          <a:xfrm>
            <a:off x="5349240" y="4023360"/>
            <a:ext cx="2286000" cy="640080"/>
          </a:xfrm>
          <a:prstGeom prst="rect">
            <a:avLst/>
          </a:prstGeom>
          <a:noFill/>
          <a:ln/>
        </p:spPr>
        <p:txBody>
          <a:bodyPr wrap="square" lIns="0" tIns="0" rIns="0" bIns="0" rtlCol="0" anchor="ctr"/>
          <a:lstStyle/>
          <a:p>
            <a:pPr marL="0" indent="0">
              <a:buNone/>
            </a:pPr>
            <a:r>
              <a:rPr lang="en-US" sz="1800" b="1" dirty="0">
                <a:solidFill>
                  <a:schemeClr val="bg1"/>
                </a:solidFill>
              </a:rPr>
              <a:t>Enlaces oficiales</a:t>
            </a:r>
            <a:endParaRPr lang="en-US" sz="1800" dirty="0"/>
          </a:p>
        </p:txBody>
      </p:sp>
      <p:sp>
        <p:nvSpPr>
          <p:cNvPr id="32" name="Evaluator desc 5"/>
          <p:cNvSpPr txBox="1"/>
          <p:nvPr/>
        </p:nvSpPr>
        <p:spPr>
          <a:xfrm>
            <a:off x="4572000" y="4754880"/>
            <a:ext cx="3017520" cy="548640"/>
          </a:xfrm>
          <a:prstGeom prst="rect">
            <a:avLst/>
          </a:prstGeom>
          <a:noFill/>
          <a:ln/>
        </p:spPr>
        <p:txBody>
          <a:bodyPr wrap="square" lIns="0" tIns="0" rIns="0" bIns="0" rtlCol="0" anchor="t"/>
          <a:lstStyle/>
          <a:p>
            <a:pPr marL="0" indent="0">
              <a:buNone/>
            </a:pPr>
            <a:r>
              <a:rPr lang="en-US" sz="1400" dirty="0">
                <a:solidFill>
                  <a:schemeClr val="bg1"/>
                </a:solidFill>
              </a:rPr>
              <a:t>Solo URLs de dominios Microsoft permitidos</a:t>
            </a:r>
            <a:endParaRPr lang="en-US" sz="1400" dirty="0"/>
          </a:p>
        </p:txBody>
      </p:sp>
      <p:sp>
        <p:nvSpPr>
          <p:cNvPr id="33" name="Evaluator rule 5"/>
          <p:cNvSpPr txBox="1"/>
          <p:nvPr/>
        </p:nvSpPr>
        <p:spPr>
          <a:xfrm>
            <a:off x="4572000" y="5349240"/>
            <a:ext cx="3017520" cy="320040"/>
          </a:xfrm>
          <a:prstGeom prst="rect">
            <a:avLst/>
          </a:prstGeom>
          <a:noFill/>
          <a:ln/>
        </p:spPr>
        <p:txBody>
          <a:bodyPr wrap="square" lIns="0" tIns="0" rIns="0" bIns="0" rtlCol="0" anchor="ctr"/>
          <a:lstStyle/>
          <a:p>
            <a:pPr marL="0" indent="0">
              <a:buNone/>
            </a:pPr>
            <a:r>
              <a:rPr lang="en-US" sz="1400" b="1" dirty="0">
                <a:solidFill>
                  <a:schemeClr val="accent2"/>
                </a:solidFill>
              </a:rPr>
              <a:t>0 o 1 · debe ser 1</a:t>
            </a:r>
            <a:endParaRPr lang="en-US" sz="1400" dirty="0"/>
          </a:p>
        </p:txBody>
      </p:sp>
      <p:sp>
        <p:nvSpPr>
          <p:cNvPr id="34" name="Evaluator card 6"/>
          <p:cNvSpPr/>
          <p:nvPr/>
        </p:nvSpPr>
        <p:spPr>
          <a:xfrm>
            <a:off x="8046720" y="3749040"/>
            <a:ext cx="3566160" cy="2103120"/>
          </a:xfrm>
          <a:prstGeom prst="roundRect">
            <a:avLst>
              <a:gd name="adj" fmla="val 5217"/>
            </a:avLst>
          </a:prstGeom>
          <a:solidFill>
            <a:schemeClr val="accent1"/>
          </a:solidFill>
          <a:ln/>
          <a:effectLst>
            <a:outerShdw blurRad="101600" dist="25400" dir="5400000" algn="bl" rotWithShape="0">
              <a:srgbClr val="000000">
                <a:alpha val="12000"/>
              </a:srgbClr>
            </a:outerShdw>
          </a:effectLst>
        </p:spPr>
        <p:txBody>
          <a:bodyPr/>
          <a:lstStyle/>
          <a:p>
            <a:endParaRPr lang="en-001"/>
          </a:p>
        </p:txBody>
      </p:sp>
      <p:sp>
        <p:nvSpPr>
          <p:cNvPr id="35" name="Comunicación corporativa circle"/>
          <p:cNvSpPr/>
          <p:nvPr/>
        </p:nvSpPr>
        <p:spPr>
          <a:xfrm>
            <a:off x="8321040" y="4023360"/>
            <a:ext cx="640080" cy="640080"/>
          </a:xfrm>
          <a:prstGeom prst="ellipse">
            <a:avLst/>
          </a:prstGeom>
          <a:solidFill>
            <a:schemeClr val="bg1"/>
          </a:solidFill>
          <a:ln/>
        </p:spPr>
        <p:txBody>
          <a:bodyPr/>
          <a:lstStyle/>
          <a:p>
            <a:endParaRPr lang="en-001"/>
          </a:p>
        </p:txBody>
      </p:sp>
      <p:pic>
        <p:nvPicPr>
          <p:cNvPr id="36" name="Comunicación corporativa" descr="Comunicación corporativa"/>
          <p:cNvPicPr>
            <a:picLocks noChangeAspect="1"/>
          </p:cNvPicPr>
          <p:nvPr/>
        </p:nvPicPr>
        <p:blipFill>
          <a:blip r:embed="rId8"/>
          <a:stretch>
            <a:fillRect/>
          </a:stretch>
        </p:blipFill>
        <p:spPr>
          <a:xfrm>
            <a:off x="8481060" y="4183380"/>
            <a:ext cx="320040" cy="320040"/>
          </a:xfrm>
          <a:prstGeom prst="rect">
            <a:avLst/>
          </a:prstGeom>
        </p:spPr>
      </p:pic>
      <p:sp>
        <p:nvSpPr>
          <p:cNvPr id="37" name="Evaluator title 6"/>
          <p:cNvSpPr txBox="1"/>
          <p:nvPr/>
        </p:nvSpPr>
        <p:spPr>
          <a:xfrm>
            <a:off x="9098280" y="4023360"/>
            <a:ext cx="2286000" cy="640080"/>
          </a:xfrm>
          <a:prstGeom prst="rect">
            <a:avLst/>
          </a:prstGeom>
          <a:noFill/>
          <a:ln/>
        </p:spPr>
        <p:txBody>
          <a:bodyPr wrap="square" lIns="0" tIns="0" rIns="0" bIns="0" rtlCol="0" anchor="ctr"/>
          <a:lstStyle/>
          <a:p>
            <a:pPr marL="0" indent="0">
              <a:buNone/>
            </a:pPr>
            <a:r>
              <a:rPr lang="en-US" sz="1800" b="1" dirty="0">
                <a:solidFill>
                  <a:schemeClr val="bg1"/>
                </a:solidFill>
              </a:rPr>
              <a:t>Comunicación corporativa</a:t>
            </a:r>
            <a:endParaRPr lang="en-US" sz="1800" dirty="0"/>
          </a:p>
        </p:txBody>
      </p:sp>
      <p:sp>
        <p:nvSpPr>
          <p:cNvPr id="38" name="Evaluator desc 6"/>
          <p:cNvSpPr txBox="1"/>
          <p:nvPr/>
        </p:nvSpPr>
        <p:spPr>
          <a:xfrm>
            <a:off x="8321040" y="4754880"/>
            <a:ext cx="3017520" cy="548640"/>
          </a:xfrm>
          <a:prstGeom prst="rect">
            <a:avLst/>
          </a:prstGeom>
          <a:noFill/>
          <a:ln/>
        </p:spPr>
        <p:txBody>
          <a:bodyPr wrap="square" lIns="0" tIns="0" rIns="0" bIns="0" rtlCol="0" anchor="t"/>
          <a:lstStyle/>
          <a:p>
            <a:pPr marL="0" indent="0">
              <a:buNone/>
            </a:pPr>
            <a:r>
              <a:rPr lang="en-US" sz="1400" dirty="0">
                <a:solidFill>
                  <a:schemeClr val="bg1"/>
                </a:solidFill>
              </a:rPr>
              <a:t>Idioma, tono profesional y guía práctica</a:t>
            </a:r>
            <a:endParaRPr lang="en-US" sz="1400" dirty="0"/>
          </a:p>
        </p:txBody>
      </p:sp>
      <p:sp>
        <p:nvSpPr>
          <p:cNvPr id="39" name="Evaluator rule 6"/>
          <p:cNvSpPr txBox="1"/>
          <p:nvPr/>
        </p:nvSpPr>
        <p:spPr>
          <a:xfrm>
            <a:off x="8321040" y="5349240"/>
            <a:ext cx="3017520" cy="320040"/>
          </a:xfrm>
          <a:prstGeom prst="rect">
            <a:avLst/>
          </a:prstGeom>
          <a:noFill/>
          <a:ln/>
        </p:spPr>
        <p:txBody>
          <a:bodyPr wrap="square" lIns="0" tIns="0" rIns="0" bIns="0" rtlCol="0" anchor="ctr"/>
          <a:lstStyle/>
          <a:p>
            <a:pPr marL="0" indent="0">
              <a:buNone/>
            </a:pPr>
            <a:r>
              <a:rPr lang="en-US" sz="1400" b="1" dirty="0">
                <a:solidFill>
                  <a:schemeClr val="accent2"/>
                </a:solidFill>
              </a:rPr>
              <a:t>1–5 · mínimo 4</a:t>
            </a:r>
            <a:endParaRPr lang="en-US" sz="1400" dirty="0"/>
          </a:p>
        </p:txBody>
      </p:sp>
      <p:sp>
        <p:nvSpPr>
          <p:cNvPr id="40" name="Legend"/>
          <p:cNvSpPr txBox="1"/>
          <p:nvPr/>
        </p:nvSpPr>
        <p:spPr>
          <a:xfrm>
            <a:off x="548640" y="6172200"/>
            <a:ext cx="7315200" cy="320040"/>
          </a:xfrm>
          <a:prstGeom prst="rect">
            <a:avLst/>
          </a:prstGeom>
          <a:noFill/>
          <a:ln/>
        </p:spPr>
        <p:txBody>
          <a:bodyPr wrap="square" lIns="0" tIns="0" rIns="0" bIns="0" rtlCol="0" anchor="ctr"/>
          <a:lstStyle/>
          <a:p>
            <a:pPr marL="0" indent="0">
              <a:buNone/>
            </a:pPr>
            <a:r>
              <a:rPr lang="en-US" sz="1200" dirty="0">
                <a:solidFill>
                  <a:schemeClr val="accent5"/>
                </a:solidFill>
              </a:rPr>
              <a:t>Fondo verde = evaluadores personalizados de la demo</a:t>
            </a:r>
            <a:endParaRPr lang="en-US" sz="12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2"/>
                </a:solidFill>
              </a:rPr>
              <a:t>Dos formas de evaluar una respuesta</a:t>
            </a:r>
            <a:endParaRPr lang="en-US" sz="3400" dirty="0"/>
          </a:p>
        </p:txBody>
      </p:sp>
      <p:sp>
        <p:nvSpPr>
          <p:cNvPr id="4" name="Judge card 1"/>
          <p:cNvSpPr/>
          <p:nvPr/>
        </p:nvSpPr>
        <p:spPr>
          <a:xfrm>
            <a:off x="548640" y="1463040"/>
            <a:ext cx="6035040" cy="2148840"/>
          </a:xfrm>
          <a:prstGeom prst="roundRect">
            <a:avLst>
              <a:gd name="adj" fmla="val 5106"/>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5" name="Modelo juez circle"/>
          <p:cNvSpPr/>
          <p:nvPr/>
        </p:nvSpPr>
        <p:spPr>
          <a:xfrm>
            <a:off x="868680" y="1783080"/>
            <a:ext cx="822960" cy="822960"/>
          </a:xfrm>
          <a:prstGeom prst="ellipse">
            <a:avLst/>
          </a:prstGeom>
          <a:solidFill>
            <a:schemeClr val="accent1"/>
          </a:solidFill>
          <a:ln/>
        </p:spPr>
        <p:txBody>
          <a:bodyPr/>
          <a:lstStyle/>
          <a:p>
            <a:endParaRPr lang="en-001"/>
          </a:p>
        </p:txBody>
      </p:sp>
      <p:pic>
        <p:nvPicPr>
          <p:cNvPr id="6" name="Modelo juez" descr="Modelo juez"/>
          <p:cNvPicPr>
            <a:picLocks noChangeAspect="1"/>
          </p:cNvPicPr>
          <p:nvPr/>
        </p:nvPicPr>
        <p:blipFill>
          <a:blip r:embed="rId3"/>
          <a:stretch>
            <a:fillRect/>
          </a:stretch>
        </p:blipFill>
        <p:spPr>
          <a:xfrm>
            <a:off x="1074420" y="1988820"/>
            <a:ext cx="411480" cy="411480"/>
          </a:xfrm>
          <a:prstGeom prst="rect">
            <a:avLst/>
          </a:prstGeom>
        </p:spPr>
      </p:pic>
      <p:sp>
        <p:nvSpPr>
          <p:cNvPr id="7" name="Judge title 1"/>
          <p:cNvSpPr txBox="1"/>
          <p:nvPr/>
        </p:nvSpPr>
        <p:spPr>
          <a:xfrm>
            <a:off x="1965960" y="1737360"/>
            <a:ext cx="4389120" cy="457200"/>
          </a:xfrm>
          <a:prstGeom prst="rect">
            <a:avLst/>
          </a:prstGeom>
          <a:noFill/>
          <a:ln/>
        </p:spPr>
        <p:txBody>
          <a:bodyPr wrap="square" lIns="0" tIns="0" rIns="0" bIns="0" rtlCol="0" anchor="ctr"/>
          <a:lstStyle/>
          <a:p>
            <a:pPr marL="0" indent="0">
              <a:buNone/>
            </a:pPr>
            <a:r>
              <a:rPr lang="en-US" sz="2000" b="1" dirty="0">
                <a:solidFill>
                  <a:schemeClr val="tx2"/>
                </a:solidFill>
              </a:rPr>
              <a:t>Modelo juez</a:t>
            </a:r>
            <a:endParaRPr lang="en-US" sz="2000" dirty="0"/>
          </a:p>
        </p:txBody>
      </p:sp>
      <p:sp>
        <p:nvSpPr>
          <p:cNvPr id="8" name="Judge text 1"/>
          <p:cNvSpPr txBox="1"/>
          <p:nvPr/>
        </p:nvSpPr>
        <p:spPr>
          <a:xfrm>
            <a:off x="1965960" y="2240280"/>
            <a:ext cx="4389120" cy="1234440"/>
          </a:xfrm>
          <a:prstGeom prst="rect">
            <a:avLst/>
          </a:prstGeom>
          <a:noFill/>
          <a:ln/>
        </p:spPr>
        <p:txBody>
          <a:bodyPr wrap="square" lIns="0" tIns="0" rIns="0" bIns="0" rtlCol="0" anchor="t"/>
          <a:lstStyle/>
          <a:p>
            <a:pPr marL="0" indent="0">
              <a:buNone/>
            </a:pPr>
            <a:r>
              <a:rPr lang="en-US" sz="1600" dirty="0">
                <a:solidFill>
                  <a:schemeClr val="tx1"/>
                </a:solidFill>
              </a:rPr>
              <a:t>Aplica una rúbrica a cada respuesta y devuelve puntuación y motivo. Útil para lo subjetivo: tono, idioma, utilidad.</a:t>
            </a:r>
            <a:endParaRPr lang="en-US" sz="1600" dirty="0"/>
          </a:p>
        </p:txBody>
      </p:sp>
      <p:sp>
        <p:nvSpPr>
          <p:cNvPr id="9" name="Judge card 2"/>
          <p:cNvSpPr/>
          <p:nvPr/>
        </p:nvSpPr>
        <p:spPr>
          <a:xfrm>
            <a:off x="548640" y="3794760"/>
            <a:ext cx="6035040" cy="2148840"/>
          </a:xfrm>
          <a:prstGeom prst="roundRect">
            <a:avLst>
              <a:gd name="adj" fmla="val 5106"/>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10" name="Regla determinista circle"/>
          <p:cNvSpPr/>
          <p:nvPr/>
        </p:nvSpPr>
        <p:spPr>
          <a:xfrm>
            <a:off x="868680" y="4114800"/>
            <a:ext cx="822960" cy="822960"/>
          </a:xfrm>
          <a:prstGeom prst="ellipse">
            <a:avLst/>
          </a:prstGeom>
          <a:solidFill>
            <a:schemeClr val="accent1"/>
          </a:solidFill>
          <a:ln/>
        </p:spPr>
        <p:txBody>
          <a:bodyPr/>
          <a:lstStyle/>
          <a:p>
            <a:endParaRPr lang="en-001"/>
          </a:p>
        </p:txBody>
      </p:sp>
      <p:pic>
        <p:nvPicPr>
          <p:cNvPr id="11" name="Regla determinista" descr="Regla determinista"/>
          <p:cNvPicPr>
            <a:picLocks noChangeAspect="1"/>
          </p:cNvPicPr>
          <p:nvPr/>
        </p:nvPicPr>
        <p:blipFill>
          <a:blip r:embed="rId4"/>
          <a:stretch>
            <a:fillRect/>
          </a:stretch>
        </p:blipFill>
        <p:spPr>
          <a:xfrm>
            <a:off x="1074420" y="4320540"/>
            <a:ext cx="411480" cy="411480"/>
          </a:xfrm>
          <a:prstGeom prst="rect">
            <a:avLst/>
          </a:prstGeom>
        </p:spPr>
      </p:pic>
      <p:sp>
        <p:nvSpPr>
          <p:cNvPr id="12" name="Judge title 2"/>
          <p:cNvSpPr txBox="1"/>
          <p:nvPr/>
        </p:nvSpPr>
        <p:spPr>
          <a:xfrm>
            <a:off x="1965960" y="4069080"/>
            <a:ext cx="4389120" cy="457200"/>
          </a:xfrm>
          <a:prstGeom prst="rect">
            <a:avLst/>
          </a:prstGeom>
          <a:noFill/>
          <a:ln/>
        </p:spPr>
        <p:txBody>
          <a:bodyPr wrap="square" lIns="0" tIns="0" rIns="0" bIns="0" rtlCol="0" anchor="ctr"/>
          <a:lstStyle/>
          <a:p>
            <a:pPr marL="0" indent="0">
              <a:buNone/>
            </a:pPr>
            <a:r>
              <a:rPr lang="en-US" sz="2000" b="1" dirty="0">
                <a:solidFill>
                  <a:schemeClr val="tx2"/>
                </a:solidFill>
              </a:rPr>
              <a:t>Regla determinista</a:t>
            </a:r>
            <a:endParaRPr lang="en-US" sz="2000" dirty="0"/>
          </a:p>
        </p:txBody>
      </p:sp>
      <p:sp>
        <p:nvSpPr>
          <p:cNvPr id="13" name="Judge text 2"/>
          <p:cNvSpPr txBox="1"/>
          <p:nvPr/>
        </p:nvSpPr>
        <p:spPr>
          <a:xfrm>
            <a:off x="1965960" y="4572000"/>
            <a:ext cx="4389120" cy="1234440"/>
          </a:xfrm>
          <a:prstGeom prst="rect">
            <a:avLst/>
          </a:prstGeom>
          <a:noFill/>
          <a:ln/>
        </p:spPr>
        <p:txBody>
          <a:bodyPr wrap="square" lIns="0" tIns="0" rIns="0" bIns="0" rtlCol="0" anchor="t"/>
          <a:lstStyle/>
          <a:p>
            <a:pPr marL="0" indent="0">
              <a:buNone/>
            </a:pPr>
            <a:r>
              <a:rPr lang="en-US" sz="1600" dirty="0">
                <a:solidFill>
                  <a:schemeClr val="tx1"/>
                </a:solidFill>
              </a:rPr>
              <a:t>Código Python que inspecciona las URLs de la respuesta. Mismo resultado siempre, sin coste de modelo.</a:t>
            </a:r>
            <a:endParaRPr lang="en-US" sz="1600" dirty="0"/>
          </a:p>
        </p:txBody>
      </p:sp>
      <p:sp>
        <p:nvSpPr>
          <p:cNvPr id="14" name="Links panel"/>
          <p:cNvSpPr/>
          <p:nvPr/>
        </p:nvSpPr>
        <p:spPr>
          <a:xfrm>
            <a:off x="6858000" y="1463040"/>
            <a:ext cx="4782312" cy="4480560"/>
          </a:xfrm>
          <a:prstGeom prst="roundRect">
            <a:avLst>
              <a:gd name="adj" fmla="val 2449"/>
            </a:avLst>
          </a:prstGeom>
          <a:solidFill>
            <a:schemeClr val="tx2"/>
          </a:solidFill>
          <a:ln/>
          <a:effectLst>
            <a:outerShdw blurRad="101600" dist="25400" dir="5400000" algn="bl" rotWithShape="0">
              <a:srgbClr val="000000">
                <a:alpha val="12000"/>
              </a:srgbClr>
            </a:outerShdw>
          </a:effectLst>
        </p:spPr>
        <p:txBody>
          <a:bodyPr/>
          <a:lstStyle/>
          <a:p>
            <a:endParaRPr lang="en-001"/>
          </a:p>
        </p:txBody>
      </p:sp>
      <p:sp>
        <p:nvSpPr>
          <p:cNvPr id="15" name="Links head"/>
          <p:cNvSpPr txBox="1"/>
          <p:nvPr/>
        </p:nvSpPr>
        <p:spPr>
          <a:xfrm>
            <a:off x="7178040" y="1691640"/>
            <a:ext cx="4114800" cy="457200"/>
          </a:xfrm>
          <a:prstGeom prst="rect">
            <a:avLst/>
          </a:prstGeom>
          <a:noFill/>
          <a:ln/>
        </p:spPr>
        <p:txBody>
          <a:bodyPr wrap="square" lIns="0" tIns="0" rIns="0" bIns="0" rtlCol="0" anchor="ctr"/>
          <a:lstStyle/>
          <a:p>
            <a:pPr marL="0" indent="0">
              <a:buNone/>
            </a:pPr>
            <a:r>
              <a:rPr lang="en-US" sz="2000" b="1" dirty="0">
                <a:solidFill>
                  <a:schemeClr val="bg1"/>
                </a:solidFill>
              </a:rPr>
              <a:t>Ejemplo: política de enlaces</a:t>
            </a:r>
            <a:endParaRPr lang="en-US" sz="2000" dirty="0"/>
          </a:p>
        </p:txBody>
      </p:sp>
      <p:sp>
        <p:nvSpPr>
          <p:cNvPr id="16" name="Links list"/>
          <p:cNvSpPr txBox="1"/>
          <p:nvPr/>
        </p:nvSpPr>
        <p:spPr>
          <a:xfrm>
            <a:off x="7178040" y="2286000"/>
            <a:ext cx="4114800" cy="21031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3"/>
                </a:solidFill>
              </a:rPr>
              <a:t>learn.microsoft.com</a:t>
            </a:r>
            <a:endParaRPr lang="en-US" sz="1600" dirty="0"/>
          </a:p>
          <a:p>
            <a:pPr marL="342900" indent="-342900">
              <a:spcAft>
                <a:spcPts val="600"/>
              </a:spcAft>
              <a:buSzPct val="100000"/>
              <a:buChar char="•"/>
            </a:pPr>
            <a:r>
              <a:rPr lang="en-US" sz="1600" dirty="0">
                <a:solidFill>
                  <a:schemeClr val="accent3"/>
                </a:solidFill>
              </a:rPr>
              <a:t>azure.microsoft.com</a:t>
            </a:r>
            <a:endParaRPr lang="en-US" sz="1600" dirty="0"/>
          </a:p>
          <a:p>
            <a:pPr marL="342900" indent="-342900">
              <a:spcAft>
                <a:spcPts val="600"/>
              </a:spcAft>
              <a:buSzPct val="100000"/>
              <a:buChar char="•"/>
            </a:pPr>
            <a:r>
              <a:rPr lang="en-US" sz="1600" dirty="0">
                <a:solidFill>
                  <a:schemeClr val="accent3"/>
                </a:solidFill>
              </a:rPr>
              <a:t>techcommunity.microsoft.com</a:t>
            </a:r>
            <a:endParaRPr lang="en-US" sz="1600" dirty="0"/>
          </a:p>
          <a:p>
            <a:pPr marL="342900" indent="-342900">
              <a:spcAft>
                <a:spcPts val="600"/>
              </a:spcAft>
              <a:buSzPct val="100000"/>
              <a:buChar char="•"/>
            </a:pPr>
            <a:r>
              <a:rPr lang="en-US" sz="1600" dirty="0">
                <a:solidFill>
                  <a:schemeClr val="accent3"/>
                </a:solidFill>
              </a:rPr>
              <a:t>devblogs.microsoft.com</a:t>
            </a:r>
            <a:endParaRPr lang="en-US" sz="1600" dirty="0"/>
          </a:p>
          <a:p>
            <a:pPr marL="342900" indent="-342900">
              <a:spcAft>
                <a:spcPts val="600"/>
              </a:spcAft>
              <a:buSzPct val="100000"/>
              <a:buChar char="•"/>
            </a:pPr>
            <a:r>
              <a:rPr lang="en-US" sz="1600" dirty="0">
                <a:solidFill>
                  <a:schemeClr val="accent3"/>
                </a:solidFill>
              </a:rPr>
              <a:t>support.microsoft.com</a:t>
            </a:r>
            <a:endParaRPr lang="en-US" sz="1600" dirty="0"/>
          </a:p>
        </p:txBody>
      </p:sp>
      <p:sp>
        <p:nvSpPr>
          <p:cNvPr id="17" name="Links rule"/>
          <p:cNvSpPr txBox="1"/>
          <p:nvPr/>
        </p:nvSpPr>
        <p:spPr>
          <a:xfrm>
            <a:off x="7178040" y="4572000"/>
            <a:ext cx="4114800" cy="1097280"/>
          </a:xfrm>
          <a:prstGeom prst="rect">
            <a:avLst/>
          </a:prstGeom>
          <a:noFill/>
          <a:ln/>
        </p:spPr>
        <p:txBody>
          <a:bodyPr wrap="square" lIns="0" tIns="0" rIns="0" bIns="0" rtlCol="0" anchor="t"/>
          <a:lstStyle/>
          <a:p>
            <a:pPr marL="0" indent="0">
              <a:buNone/>
            </a:pPr>
            <a:r>
              <a:rPr lang="en-US" sz="1600" b="1" dirty="0">
                <a:solidFill>
                  <a:schemeClr val="accent2"/>
                </a:solidFill>
              </a:rPr>
              <a:t>Cualquier otro dominio, HTTP o acortador (aka.ms) puntúa 0.</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2"/>
                </a:solidFill>
              </a:rPr>
              <a:t>Cómo funciona en la demo</a:t>
            </a:r>
            <a:endParaRPr lang="en-US" sz="3400" dirty="0"/>
          </a:p>
        </p:txBody>
      </p:sp>
      <p:sp>
        <p:nvSpPr>
          <p:cNvPr id="4" name="Stat card 1"/>
          <p:cNvSpPr/>
          <p:nvPr/>
        </p:nvSpPr>
        <p:spPr>
          <a:xfrm>
            <a:off x="548640" y="1554480"/>
            <a:ext cx="2606040" cy="2103120"/>
          </a:xfrm>
          <a:prstGeom prst="roundRect">
            <a:avLst>
              <a:gd name="adj" fmla="val 5217"/>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5" name="Stat value 1"/>
          <p:cNvSpPr txBox="1"/>
          <p:nvPr/>
        </p:nvSpPr>
        <p:spPr>
          <a:xfrm>
            <a:off x="548640" y="1737360"/>
            <a:ext cx="2606040" cy="1097280"/>
          </a:xfrm>
          <a:prstGeom prst="rect">
            <a:avLst/>
          </a:prstGeom>
          <a:noFill/>
          <a:ln/>
        </p:spPr>
        <p:txBody>
          <a:bodyPr wrap="square" lIns="0" tIns="0" rIns="0" bIns="0" rtlCol="0" anchor="ctr"/>
          <a:lstStyle/>
          <a:p>
            <a:pPr marL="0" indent="0" algn="ctr">
              <a:buNone/>
            </a:pPr>
            <a:r>
              <a:rPr lang="en-US" sz="5400" b="1" dirty="0">
                <a:solidFill>
                  <a:schemeClr val="accent1"/>
                </a:solidFill>
                <a:latin typeface="Cambria" pitchFamily="34" charset="0"/>
                <a:ea typeface="Cambria" pitchFamily="34" charset="-122"/>
                <a:cs typeface="Cambria" pitchFamily="34" charset="-120"/>
              </a:rPr>
              <a:t>5 min</a:t>
            </a:r>
            <a:endParaRPr lang="en-US" sz="5400" dirty="0"/>
          </a:p>
        </p:txBody>
      </p:sp>
      <p:sp>
        <p:nvSpPr>
          <p:cNvPr id="6" name="Stat label 1"/>
          <p:cNvSpPr txBox="1"/>
          <p:nvPr/>
        </p:nvSpPr>
        <p:spPr>
          <a:xfrm>
            <a:off x="731520" y="2834640"/>
            <a:ext cx="2240280" cy="640080"/>
          </a:xfrm>
          <a:prstGeom prst="rect">
            <a:avLst/>
          </a:prstGeom>
          <a:noFill/>
          <a:ln/>
        </p:spPr>
        <p:txBody>
          <a:bodyPr wrap="square" lIns="0" tIns="0" rIns="0" bIns="0" rtlCol="0" anchor="t"/>
          <a:lstStyle/>
          <a:p>
            <a:pPr marL="0" indent="0" algn="ctr">
              <a:buNone/>
            </a:pPr>
            <a:r>
              <a:rPr lang="en-US" sz="1600" dirty="0">
                <a:solidFill>
                  <a:schemeClr val="tx1"/>
                </a:solidFill>
              </a:rPr>
              <a:t>entre evaluaciones</a:t>
            </a:r>
            <a:endParaRPr lang="en-US" sz="1600" dirty="0"/>
          </a:p>
        </p:txBody>
      </p:sp>
      <p:sp>
        <p:nvSpPr>
          <p:cNvPr id="7" name="Stat card 2"/>
          <p:cNvSpPr/>
          <p:nvPr/>
        </p:nvSpPr>
        <p:spPr>
          <a:xfrm>
            <a:off x="3374136" y="1554480"/>
            <a:ext cx="2606040" cy="2103120"/>
          </a:xfrm>
          <a:prstGeom prst="roundRect">
            <a:avLst>
              <a:gd name="adj" fmla="val 5217"/>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8" name="Stat value 2"/>
          <p:cNvSpPr txBox="1"/>
          <p:nvPr/>
        </p:nvSpPr>
        <p:spPr>
          <a:xfrm>
            <a:off x="3374136" y="1737360"/>
            <a:ext cx="2606040" cy="1097280"/>
          </a:xfrm>
          <a:prstGeom prst="rect">
            <a:avLst/>
          </a:prstGeom>
          <a:noFill/>
          <a:ln/>
        </p:spPr>
        <p:txBody>
          <a:bodyPr wrap="square" lIns="0" tIns="0" rIns="0" bIns="0" rtlCol="0" anchor="ctr"/>
          <a:lstStyle/>
          <a:p>
            <a:pPr marL="0" indent="0" algn="ctr">
              <a:buNone/>
            </a:pPr>
            <a:r>
              <a:rPr lang="en-US" sz="5400" b="1" dirty="0">
                <a:solidFill>
                  <a:schemeClr val="accent1"/>
                </a:solidFill>
                <a:latin typeface="Cambria" pitchFamily="34" charset="0"/>
                <a:ea typeface="Cambria" pitchFamily="34" charset="-122"/>
                <a:cs typeface="Cambria" pitchFamily="34" charset="-120"/>
              </a:rPr>
              <a:t>60 min</a:t>
            </a:r>
            <a:endParaRPr lang="en-US" sz="5400" dirty="0"/>
          </a:p>
        </p:txBody>
      </p:sp>
      <p:sp>
        <p:nvSpPr>
          <p:cNvPr id="9" name="Stat label 2"/>
          <p:cNvSpPr txBox="1"/>
          <p:nvPr/>
        </p:nvSpPr>
        <p:spPr>
          <a:xfrm>
            <a:off x="3557016" y="2834640"/>
            <a:ext cx="2240280" cy="640080"/>
          </a:xfrm>
          <a:prstGeom prst="rect">
            <a:avLst/>
          </a:prstGeom>
          <a:noFill/>
          <a:ln/>
        </p:spPr>
        <p:txBody>
          <a:bodyPr wrap="square" lIns="0" tIns="0" rIns="0" bIns="0" rtlCol="0" anchor="t"/>
          <a:lstStyle/>
          <a:p>
            <a:pPr marL="0" indent="0" algn="ctr">
              <a:buNone/>
            </a:pPr>
            <a:r>
              <a:rPr lang="en-US" sz="1600" dirty="0">
                <a:solidFill>
                  <a:schemeClr val="tx1"/>
                </a:solidFill>
              </a:rPr>
              <a:t>ventana de trazas</a:t>
            </a:r>
            <a:endParaRPr lang="en-US" sz="1600" dirty="0"/>
          </a:p>
        </p:txBody>
      </p:sp>
      <p:sp>
        <p:nvSpPr>
          <p:cNvPr id="10" name="Stat card 3"/>
          <p:cNvSpPr/>
          <p:nvPr/>
        </p:nvSpPr>
        <p:spPr>
          <a:xfrm>
            <a:off x="6199632" y="1554480"/>
            <a:ext cx="2606040" cy="2103120"/>
          </a:xfrm>
          <a:prstGeom prst="roundRect">
            <a:avLst>
              <a:gd name="adj" fmla="val 5217"/>
            </a:avLst>
          </a:prstGeom>
          <a:solidFill>
            <a:schemeClr val="bg2"/>
          </a:solidFill>
          <a:ln/>
          <a:effectLst>
            <a:outerShdw blurRad="101600" dist="25400" dir="5400000" algn="bl" rotWithShape="0">
              <a:srgbClr val="000000">
                <a:alpha val="12000"/>
              </a:srgbClr>
            </a:outerShdw>
          </a:effectLst>
        </p:spPr>
        <p:txBody>
          <a:bodyPr/>
          <a:lstStyle/>
          <a:p>
            <a:endParaRPr lang="en-001"/>
          </a:p>
        </p:txBody>
      </p:sp>
      <p:sp>
        <p:nvSpPr>
          <p:cNvPr id="11" name="Stat value 3"/>
          <p:cNvSpPr txBox="1"/>
          <p:nvPr/>
        </p:nvSpPr>
        <p:spPr>
          <a:xfrm>
            <a:off x="6199632" y="1737360"/>
            <a:ext cx="2606040" cy="1097280"/>
          </a:xfrm>
          <a:prstGeom prst="rect">
            <a:avLst/>
          </a:prstGeom>
          <a:noFill/>
          <a:ln/>
        </p:spPr>
        <p:txBody>
          <a:bodyPr wrap="square" lIns="0" tIns="0" rIns="0" bIns="0" rtlCol="0" anchor="ctr"/>
          <a:lstStyle/>
          <a:p>
            <a:pPr marL="0" indent="0" algn="ctr">
              <a:buNone/>
            </a:pPr>
            <a:r>
              <a:rPr lang="en-US" sz="5400" b="1" dirty="0">
                <a:solidFill>
                  <a:schemeClr val="accent1"/>
                </a:solidFill>
                <a:latin typeface="Cambria" pitchFamily="34" charset="0"/>
                <a:ea typeface="Cambria" pitchFamily="34" charset="-122"/>
                <a:cs typeface="Cambria" pitchFamily="34" charset="-120"/>
              </a:rPr>
              <a:t>50</a:t>
            </a:r>
            <a:endParaRPr lang="en-US" sz="5400" dirty="0"/>
          </a:p>
        </p:txBody>
      </p:sp>
      <p:sp>
        <p:nvSpPr>
          <p:cNvPr id="12" name="Stat label 3"/>
          <p:cNvSpPr txBox="1"/>
          <p:nvPr/>
        </p:nvSpPr>
        <p:spPr>
          <a:xfrm>
            <a:off x="6382512" y="2834640"/>
            <a:ext cx="2240280" cy="640080"/>
          </a:xfrm>
          <a:prstGeom prst="rect">
            <a:avLst/>
          </a:prstGeom>
          <a:noFill/>
          <a:ln/>
        </p:spPr>
        <p:txBody>
          <a:bodyPr wrap="square" lIns="0" tIns="0" rIns="0" bIns="0" rtlCol="0" anchor="t"/>
          <a:lstStyle/>
          <a:p>
            <a:pPr marL="0" indent="0" algn="ctr">
              <a:buNone/>
            </a:pPr>
            <a:r>
              <a:rPr lang="en-US" sz="1600" dirty="0">
                <a:solidFill>
                  <a:schemeClr val="tx1"/>
                </a:solidFill>
              </a:rPr>
              <a:t>trazas máx. por ejecución</a:t>
            </a:r>
            <a:endParaRPr lang="en-US" sz="1600" dirty="0"/>
          </a:p>
        </p:txBody>
      </p:sp>
      <p:sp>
        <p:nvSpPr>
          <p:cNvPr id="13" name="Stat card 4"/>
          <p:cNvSpPr/>
          <p:nvPr/>
        </p:nvSpPr>
        <p:spPr>
          <a:xfrm>
            <a:off x="9025128" y="1554480"/>
            <a:ext cx="2606040" cy="2103120"/>
          </a:xfrm>
          <a:prstGeom prst="roundRect">
            <a:avLst>
              <a:gd name="adj" fmla="val 5217"/>
            </a:avLst>
          </a:prstGeom>
          <a:solidFill>
            <a:schemeClr val="accent1"/>
          </a:solidFill>
          <a:ln/>
          <a:effectLst>
            <a:outerShdw blurRad="101600" dist="25400" dir="5400000" algn="bl" rotWithShape="0">
              <a:srgbClr val="000000">
                <a:alpha val="12000"/>
              </a:srgbClr>
            </a:outerShdw>
          </a:effectLst>
        </p:spPr>
        <p:txBody>
          <a:bodyPr/>
          <a:lstStyle/>
          <a:p>
            <a:endParaRPr lang="en-001"/>
          </a:p>
        </p:txBody>
      </p:sp>
      <p:sp>
        <p:nvSpPr>
          <p:cNvPr id="14" name="Stat value 4"/>
          <p:cNvSpPr txBox="1"/>
          <p:nvPr/>
        </p:nvSpPr>
        <p:spPr>
          <a:xfrm>
            <a:off x="9025128" y="1737360"/>
            <a:ext cx="2606040" cy="1097280"/>
          </a:xfrm>
          <a:prstGeom prst="rect">
            <a:avLst/>
          </a:prstGeom>
          <a:noFill/>
          <a:ln/>
        </p:spPr>
        <p:txBody>
          <a:bodyPr wrap="square" lIns="0" tIns="0" rIns="0" bIns="0" rtlCol="0" anchor="ctr"/>
          <a:lstStyle/>
          <a:p>
            <a:pPr marL="0" indent="0" algn="ctr">
              <a:buNone/>
            </a:pPr>
            <a:r>
              <a:rPr lang="en-US" sz="5400" b="1" dirty="0">
                <a:solidFill>
                  <a:schemeClr val="bg1"/>
                </a:solidFill>
                <a:latin typeface="Cambria" pitchFamily="34" charset="0"/>
                <a:ea typeface="Cambria" pitchFamily="34" charset="-122"/>
                <a:cs typeface="Cambria" pitchFamily="34" charset="-120"/>
              </a:rPr>
              <a:t>0</a:t>
            </a:r>
            <a:endParaRPr lang="en-US" sz="5400" dirty="0"/>
          </a:p>
        </p:txBody>
      </p:sp>
      <p:sp>
        <p:nvSpPr>
          <p:cNvPr id="15" name="Stat label 4"/>
          <p:cNvSpPr txBox="1"/>
          <p:nvPr/>
        </p:nvSpPr>
        <p:spPr>
          <a:xfrm>
            <a:off x="9208008" y="2834640"/>
            <a:ext cx="2240280" cy="640080"/>
          </a:xfrm>
          <a:prstGeom prst="rect">
            <a:avLst/>
          </a:prstGeom>
          <a:noFill/>
          <a:ln/>
        </p:spPr>
        <p:txBody>
          <a:bodyPr wrap="square" lIns="0" tIns="0" rIns="0" bIns="0" rtlCol="0" anchor="t"/>
          <a:lstStyle/>
          <a:p>
            <a:pPr marL="0" indent="0" algn="ctr">
              <a:buNone/>
            </a:pPr>
            <a:r>
              <a:rPr lang="en-US" sz="1600" dirty="0">
                <a:solidFill>
                  <a:schemeClr val="bg1"/>
                </a:solidFill>
              </a:rPr>
              <a:t>preguntas repetidas al agente</a:t>
            </a:r>
            <a:endParaRPr lang="en-US" sz="1600" dirty="0"/>
          </a:p>
        </p:txBody>
      </p:sp>
      <p:sp>
        <p:nvSpPr>
          <p:cNvPr id="16" name="Point icon 1 circle"/>
          <p:cNvSpPr/>
          <p:nvPr/>
        </p:nvSpPr>
        <p:spPr>
          <a:xfrm>
            <a:off x="548640" y="3977640"/>
            <a:ext cx="502920" cy="502920"/>
          </a:xfrm>
          <a:prstGeom prst="ellipse">
            <a:avLst/>
          </a:prstGeom>
          <a:solidFill>
            <a:schemeClr val="accent1"/>
          </a:solidFill>
          <a:ln/>
        </p:spPr>
        <p:txBody>
          <a:bodyPr/>
          <a:lstStyle/>
          <a:p>
            <a:endParaRPr lang="en-001"/>
          </a:p>
        </p:txBody>
      </p:sp>
      <p:pic>
        <p:nvPicPr>
          <p:cNvPr id="17" name="Point icon 1" descr="Point icon 1"/>
          <p:cNvPicPr>
            <a:picLocks noChangeAspect="1"/>
          </p:cNvPicPr>
          <p:nvPr/>
        </p:nvPicPr>
        <p:blipFill>
          <a:blip r:embed="rId3"/>
          <a:stretch>
            <a:fillRect/>
          </a:stretch>
        </p:blipFill>
        <p:spPr>
          <a:xfrm>
            <a:off x="674370" y="4103370"/>
            <a:ext cx="251460" cy="251460"/>
          </a:xfrm>
          <a:prstGeom prst="rect">
            <a:avLst/>
          </a:prstGeom>
        </p:spPr>
      </p:pic>
      <p:sp>
        <p:nvSpPr>
          <p:cNvPr id="18" name="Point text 1"/>
          <p:cNvSpPr txBox="1"/>
          <p:nvPr/>
        </p:nvSpPr>
        <p:spPr>
          <a:xfrm>
            <a:off x="1280160" y="3977640"/>
            <a:ext cx="10058400" cy="502920"/>
          </a:xfrm>
          <a:prstGeom prst="rect">
            <a:avLst/>
          </a:prstGeom>
          <a:noFill/>
          <a:ln/>
        </p:spPr>
        <p:txBody>
          <a:bodyPr wrap="square" lIns="0" tIns="0" rIns="0" bIns="0" rtlCol="0" anchor="ctr"/>
          <a:lstStyle/>
          <a:p>
            <a:pPr marL="0" indent="0">
              <a:buNone/>
            </a:pPr>
            <a:r>
              <a:rPr lang="en-US" sz="1600" dirty="0">
                <a:solidFill>
                  <a:schemeClr val="tx1"/>
                </a:solidFill>
              </a:rPr>
              <a:t>Un servicio en segundo plano de la app .NET lanza cada ejecución y espera el resultado.</a:t>
            </a:r>
            <a:endParaRPr lang="en-US" sz="1600" dirty="0"/>
          </a:p>
        </p:txBody>
      </p:sp>
      <p:sp>
        <p:nvSpPr>
          <p:cNvPr id="19" name="Point icon 2 circle"/>
          <p:cNvSpPr/>
          <p:nvPr/>
        </p:nvSpPr>
        <p:spPr>
          <a:xfrm>
            <a:off x="548640" y="4663440"/>
            <a:ext cx="502920" cy="502920"/>
          </a:xfrm>
          <a:prstGeom prst="ellipse">
            <a:avLst/>
          </a:prstGeom>
          <a:solidFill>
            <a:schemeClr val="accent1"/>
          </a:solidFill>
          <a:ln/>
        </p:spPr>
        <p:txBody>
          <a:bodyPr/>
          <a:lstStyle/>
          <a:p>
            <a:endParaRPr lang="en-001"/>
          </a:p>
        </p:txBody>
      </p:sp>
      <p:pic>
        <p:nvPicPr>
          <p:cNvPr id="20" name="Point icon 2" descr="Point icon 2"/>
          <p:cNvPicPr>
            <a:picLocks noChangeAspect="1"/>
          </p:cNvPicPr>
          <p:nvPr/>
        </p:nvPicPr>
        <p:blipFill>
          <a:blip r:embed="rId4"/>
          <a:stretch>
            <a:fillRect/>
          </a:stretch>
        </p:blipFill>
        <p:spPr>
          <a:xfrm>
            <a:off x="674370" y="4789170"/>
            <a:ext cx="251460" cy="251460"/>
          </a:xfrm>
          <a:prstGeom prst="rect">
            <a:avLst/>
          </a:prstGeom>
        </p:spPr>
      </p:pic>
      <p:sp>
        <p:nvSpPr>
          <p:cNvPr id="21" name="Point text 2"/>
          <p:cNvSpPr txBox="1"/>
          <p:nvPr/>
        </p:nvSpPr>
        <p:spPr>
          <a:xfrm>
            <a:off x="1280160" y="4663440"/>
            <a:ext cx="10058400" cy="502920"/>
          </a:xfrm>
          <a:prstGeom prst="rect">
            <a:avLst/>
          </a:prstGeom>
          <a:noFill/>
          <a:ln/>
        </p:spPr>
        <p:txBody>
          <a:bodyPr wrap="square" lIns="0" tIns="0" rIns="0" bIns="0" rtlCol="0" anchor="ctr"/>
          <a:lstStyle/>
          <a:p>
            <a:pPr marL="0" indent="0">
              <a:buNone/>
            </a:pPr>
            <a:r>
              <a:rPr lang="en-US" sz="1600" dirty="0">
                <a:solidFill>
                  <a:schemeClr val="tx1"/>
                </a:solidFill>
              </a:rPr>
              <a:t>Los evaluadores y el grupo de evaluación se crean al provisionar, no al ejecutar.</a:t>
            </a:r>
            <a:endParaRPr lang="en-US" sz="1600" dirty="0"/>
          </a:p>
        </p:txBody>
      </p:sp>
      <p:sp>
        <p:nvSpPr>
          <p:cNvPr id="22" name="Point icon 3 circle"/>
          <p:cNvSpPr/>
          <p:nvPr/>
        </p:nvSpPr>
        <p:spPr>
          <a:xfrm>
            <a:off x="548640" y="5349240"/>
            <a:ext cx="502920" cy="502920"/>
          </a:xfrm>
          <a:prstGeom prst="ellipse">
            <a:avLst/>
          </a:prstGeom>
          <a:solidFill>
            <a:schemeClr val="accent1"/>
          </a:solidFill>
          <a:ln/>
        </p:spPr>
        <p:txBody>
          <a:bodyPr/>
          <a:lstStyle/>
          <a:p>
            <a:endParaRPr lang="en-001"/>
          </a:p>
        </p:txBody>
      </p:sp>
      <p:pic>
        <p:nvPicPr>
          <p:cNvPr id="23" name="Point icon 3" descr="Point icon 3"/>
          <p:cNvPicPr>
            <a:picLocks noChangeAspect="1"/>
          </p:cNvPicPr>
          <p:nvPr/>
        </p:nvPicPr>
        <p:blipFill>
          <a:blip r:embed="rId5"/>
          <a:stretch>
            <a:fillRect/>
          </a:stretch>
        </p:blipFill>
        <p:spPr>
          <a:xfrm>
            <a:off x="674370" y="5474970"/>
            <a:ext cx="251460" cy="251460"/>
          </a:xfrm>
          <a:prstGeom prst="rect">
            <a:avLst/>
          </a:prstGeom>
        </p:spPr>
      </p:pic>
      <p:sp>
        <p:nvSpPr>
          <p:cNvPr id="24" name="Point text 3"/>
          <p:cNvSpPr txBox="1"/>
          <p:nvPr/>
        </p:nvSpPr>
        <p:spPr>
          <a:xfrm>
            <a:off x="1280160" y="5349240"/>
            <a:ext cx="10058400" cy="502920"/>
          </a:xfrm>
          <a:prstGeom prst="rect">
            <a:avLst/>
          </a:prstGeom>
          <a:noFill/>
          <a:ln/>
        </p:spPr>
        <p:txBody>
          <a:bodyPr wrap="square" lIns="0" tIns="0" rIns="0" bIns="0" rtlCol="0" anchor="ctr"/>
          <a:lstStyle/>
          <a:p>
            <a:pPr marL="0" indent="0">
              <a:buNone/>
            </a:pPr>
            <a:r>
              <a:rPr lang="en-US" sz="1600" dirty="0">
                <a:solidFill>
                  <a:schemeClr val="tx1"/>
                </a:solidFill>
              </a:rPr>
              <a:t>El log muestra el enlace al informe y los aprobados/suspensos por evaluador.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400" b="1" dirty="0">
                <a:solidFill>
                  <a:schemeClr val="tx2"/>
                </a:solidFill>
              </a:rPr>
              <a:t>Qué veremos en la demo</a:t>
            </a:r>
            <a:endParaRPr lang="en-US" sz="3400" dirty="0"/>
          </a:p>
        </p:txBody>
      </p:sp>
      <p:sp>
        <p:nvSpPr>
          <p:cNvPr id="4" name="Timeline line"/>
          <p:cNvSpPr/>
          <p:nvPr/>
        </p:nvSpPr>
        <p:spPr>
          <a:xfrm>
            <a:off x="960120" y="2057400"/>
            <a:ext cx="8476488" cy="0"/>
          </a:xfrm>
          <a:prstGeom prst="line">
            <a:avLst/>
          </a:prstGeom>
          <a:noFill/>
          <a:ln w="38100">
            <a:solidFill>
              <a:schemeClr val="accent3"/>
            </a:solidFill>
            <a:prstDash val="solid"/>
          </a:ln>
        </p:spPr>
        <p:txBody>
          <a:bodyPr/>
          <a:lstStyle/>
          <a:p>
            <a:endParaRPr lang="en-001"/>
          </a:p>
        </p:txBody>
      </p:sp>
      <p:sp>
        <p:nvSpPr>
          <p:cNvPr id="5" name="Step number circle 1"/>
          <p:cNvSpPr/>
          <p:nvPr/>
        </p:nvSpPr>
        <p:spPr>
          <a:xfrm>
            <a:off x="548640" y="1645920"/>
            <a:ext cx="822960" cy="822960"/>
          </a:xfrm>
          <a:prstGeom prst="ellipse">
            <a:avLst/>
          </a:prstGeom>
          <a:solidFill>
            <a:schemeClr val="accent1"/>
          </a:solidFill>
          <a:ln/>
        </p:spPr>
        <p:txBody>
          <a:bodyPr/>
          <a:lstStyle/>
          <a:p>
            <a:endParaRPr lang="en-001"/>
          </a:p>
        </p:txBody>
      </p:sp>
      <p:sp>
        <p:nvSpPr>
          <p:cNvPr id="6" name="Step number 1"/>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800" b="1" dirty="0">
                <a:solidFill>
                  <a:schemeClr val="bg1"/>
                </a:solidFill>
              </a:rPr>
              <a:t>1</a:t>
            </a:r>
            <a:endParaRPr lang="en-US" sz="2800" dirty="0"/>
          </a:p>
        </p:txBody>
      </p:sp>
      <p:sp>
        <p:nvSpPr>
          <p:cNvPr id="7" name="Demo step title 1"/>
          <p:cNvSpPr txBox="1"/>
          <p:nvPr/>
        </p:nvSpPr>
        <p:spPr>
          <a:xfrm>
            <a:off x="548640" y="2743200"/>
            <a:ext cx="2606040" cy="457200"/>
          </a:xfrm>
          <a:prstGeom prst="rect">
            <a:avLst/>
          </a:prstGeom>
          <a:noFill/>
          <a:ln/>
        </p:spPr>
        <p:txBody>
          <a:bodyPr wrap="square" lIns="0" tIns="0" rIns="0" bIns="0" rtlCol="0" anchor="ctr"/>
          <a:lstStyle/>
          <a:p>
            <a:pPr marL="0" indent="0">
              <a:buNone/>
            </a:pPr>
            <a:r>
              <a:rPr lang="en-US" sz="2400" b="1" dirty="0">
                <a:solidFill>
                  <a:schemeClr val="tx2"/>
                </a:solidFill>
              </a:rPr>
              <a:t>Conversar</a:t>
            </a:r>
            <a:endParaRPr lang="en-US" sz="2400" dirty="0"/>
          </a:p>
        </p:txBody>
      </p:sp>
      <p:sp>
        <p:nvSpPr>
          <p:cNvPr id="8" name="Demo step text 1"/>
          <p:cNvSpPr txBox="1"/>
          <p:nvPr/>
        </p:nvSpPr>
        <p:spPr>
          <a:xfrm>
            <a:off x="548640" y="3291840"/>
            <a:ext cx="2514600" cy="1280160"/>
          </a:xfrm>
          <a:prstGeom prst="rect">
            <a:avLst/>
          </a:prstGeom>
          <a:noFill/>
          <a:ln/>
        </p:spPr>
        <p:txBody>
          <a:bodyPr wrap="square" lIns="0" tIns="0" rIns="0" bIns="0" rtlCol="0" anchor="t"/>
          <a:lstStyle/>
          <a:p>
            <a:pPr marL="0" indent="0">
              <a:buNone/>
            </a:pPr>
            <a:r>
              <a:rPr lang="en-US" sz="1600" dirty="0">
                <a:solidFill>
                  <a:schemeClr val="tx1"/>
                </a:solidFill>
              </a:rPr>
              <a:t>Un script genera conversaciones de varios turnos con el agente desplegado.</a:t>
            </a:r>
            <a:endParaRPr lang="en-US" sz="1600" dirty="0"/>
          </a:p>
        </p:txBody>
      </p:sp>
      <p:sp>
        <p:nvSpPr>
          <p:cNvPr id="9" name="Step number circle 2"/>
          <p:cNvSpPr/>
          <p:nvPr/>
        </p:nvSpPr>
        <p:spPr>
          <a:xfrm>
            <a:off x="3374136" y="1645920"/>
            <a:ext cx="822960" cy="822960"/>
          </a:xfrm>
          <a:prstGeom prst="ellipse">
            <a:avLst/>
          </a:prstGeom>
          <a:solidFill>
            <a:schemeClr val="accent1"/>
          </a:solidFill>
          <a:ln/>
        </p:spPr>
        <p:txBody>
          <a:bodyPr/>
          <a:lstStyle/>
          <a:p>
            <a:endParaRPr lang="en-001"/>
          </a:p>
        </p:txBody>
      </p:sp>
      <p:sp>
        <p:nvSpPr>
          <p:cNvPr id="10" name="Step number 2"/>
          <p:cNvSpPr txBox="1"/>
          <p:nvPr/>
        </p:nvSpPr>
        <p:spPr>
          <a:xfrm>
            <a:off x="3374136" y="1645920"/>
            <a:ext cx="822960" cy="82296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1" name="Demo step title 2"/>
          <p:cNvSpPr txBox="1"/>
          <p:nvPr/>
        </p:nvSpPr>
        <p:spPr>
          <a:xfrm>
            <a:off x="3374136" y="2743200"/>
            <a:ext cx="2606040" cy="457200"/>
          </a:xfrm>
          <a:prstGeom prst="rect">
            <a:avLst/>
          </a:prstGeom>
          <a:noFill/>
          <a:ln/>
        </p:spPr>
        <p:txBody>
          <a:bodyPr wrap="square" lIns="0" tIns="0" rIns="0" bIns="0" rtlCol="0" anchor="ctr"/>
          <a:lstStyle/>
          <a:p>
            <a:pPr marL="0" indent="0">
              <a:buNone/>
            </a:pPr>
            <a:r>
              <a:rPr lang="en-US" sz="2400" b="1" dirty="0">
                <a:solidFill>
                  <a:schemeClr val="tx2"/>
                </a:solidFill>
              </a:rPr>
              <a:t>Trazar</a:t>
            </a:r>
            <a:endParaRPr lang="en-US" sz="2400" dirty="0"/>
          </a:p>
        </p:txBody>
      </p:sp>
      <p:sp>
        <p:nvSpPr>
          <p:cNvPr id="12" name="Demo step text 2"/>
          <p:cNvSpPr txBox="1"/>
          <p:nvPr/>
        </p:nvSpPr>
        <p:spPr>
          <a:xfrm>
            <a:off x="3374136" y="3291840"/>
            <a:ext cx="2514600" cy="1280160"/>
          </a:xfrm>
          <a:prstGeom prst="rect">
            <a:avLst/>
          </a:prstGeom>
          <a:noFill/>
          <a:ln/>
        </p:spPr>
        <p:txBody>
          <a:bodyPr wrap="square" lIns="0" tIns="0" rIns="0" bIns="0" rtlCol="0" anchor="t"/>
          <a:lstStyle/>
          <a:p>
            <a:pPr marL="0" indent="0">
              <a:buNone/>
            </a:pPr>
            <a:r>
              <a:rPr lang="en-US" sz="1600" dirty="0">
                <a:solidFill>
                  <a:schemeClr val="tx1"/>
                </a:solidFill>
              </a:rPr>
              <a:t>Application Insights recibe las trazas con pregunta y respuesta.</a:t>
            </a:r>
            <a:endParaRPr lang="en-US" sz="1600" dirty="0"/>
          </a:p>
        </p:txBody>
      </p:sp>
      <p:sp>
        <p:nvSpPr>
          <p:cNvPr id="13" name="Step number circle 3"/>
          <p:cNvSpPr/>
          <p:nvPr/>
        </p:nvSpPr>
        <p:spPr>
          <a:xfrm>
            <a:off x="6199632" y="1645920"/>
            <a:ext cx="822960" cy="822960"/>
          </a:xfrm>
          <a:prstGeom prst="ellipse">
            <a:avLst/>
          </a:prstGeom>
          <a:solidFill>
            <a:schemeClr val="accent1"/>
          </a:solidFill>
          <a:ln/>
        </p:spPr>
        <p:txBody>
          <a:bodyPr/>
          <a:lstStyle/>
          <a:p>
            <a:endParaRPr lang="en-001"/>
          </a:p>
        </p:txBody>
      </p:sp>
      <p:sp>
        <p:nvSpPr>
          <p:cNvPr id="14" name="Step number 3"/>
          <p:cNvSpPr txBox="1"/>
          <p:nvPr/>
        </p:nvSpPr>
        <p:spPr>
          <a:xfrm>
            <a:off x="6199632" y="1645920"/>
            <a:ext cx="822960" cy="82296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5" name="Demo step title 3"/>
          <p:cNvSpPr txBox="1"/>
          <p:nvPr/>
        </p:nvSpPr>
        <p:spPr>
          <a:xfrm>
            <a:off x="6199632" y="2743200"/>
            <a:ext cx="2606040" cy="457200"/>
          </a:xfrm>
          <a:prstGeom prst="rect">
            <a:avLst/>
          </a:prstGeom>
          <a:noFill/>
          <a:ln/>
        </p:spPr>
        <p:txBody>
          <a:bodyPr wrap="square" lIns="0" tIns="0" rIns="0" bIns="0" rtlCol="0" anchor="ctr"/>
          <a:lstStyle/>
          <a:p>
            <a:pPr marL="0" indent="0">
              <a:buNone/>
            </a:pPr>
            <a:r>
              <a:rPr lang="en-US" sz="2400" b="1" dirty="0">
                <a:solidFill>
                  <a:schemeClr val="tx2"/>
                </a:solidFill>
              </a:rPr>
              <a:t>Evaluar</a:t>
            </a:r>
            <a:endParaRPr lang="en-US" sz="2400" dirty="0"/>
          </a:p>
        </p:txBody>
      </p:sp>
      <p:sp>
        <p:nvSpPr>
          <p:cNvPr id="16" name="Demo step text 3"/>
          <p:cNvSpPr txBox="1"/>
          <p:nvPr/>
        </p:nvSpPr>
        <p:spPr>
          <a:xfrm>
            <a:off x="6199632" y="3291840"/>
            <a:ext cx="2514600" cy="1280160"/>
          </a:xfrm>
          <a:prstGeom prst="rect">
            <a:avLst/>
          </a:prstGeom>
          <a:noFill/>
          <a:ln/>
        </p:spPr>
        <p:txBody>
          <a:bodyPr wrap="square" lIns="0" tIns="0" rIns="0" bIns="0" rtlCol="0" anchor="t"/>
          <a:lstStyle/>
          <a:p>
            <a:pPr marL="0" indent="0">
              <a:buNone/>
            </a:pPr>
            <a:r>
              <a:rPr lang="en-US" sz="1600" dirty="0">
                <a:solidFill>
                  <a:schemeClr val="tx1"/>
                </a:solidFill>
              </a:rPr>
              <a:t>Tras unos minutos, Foundry puntúa las trazas con los seis criterios.</a:t>
            </a:r>
            <a:endParaRPr lang="en-US" sz="1600" dirty="0"/>
          </a:p>
        </p:txBody>
      </p:sp>
      <p:sp>
        <p:nvSpPr>
          <p:cNvPr id="17" name="Step number circle 4"/>
          <p:cNvSpPr/>
          <p:nvPr/>
        </p:nvSpPr>
        <p:spPr>
          <a:xfrm>
            <a:off x="9025128" y="1645920"/>
            <a:ext cx="822960" cy="822960"/>
          </a:xfrm>
          <a:prstGeom prst="ellipse">
            <a:avLst/>
          </a:prstGeom>
          <a:solidFill>
            <a:schemeClr val="accent1"/>
          </a:solidFill>
          <a:ln/>
        </p:spPr>
        <p:txBody>
          <a:bodyPr/>
          <a:lstStyle/>
          <a:p>
            <a:endParaRPr lang="en-001"/>
          </a:p>
        </p:txBody>
      </p:sp>
      <p:sp>
        <p:nvSpPr>
          <p:cNvPr id="18" name="Step number 4"/>
          <p:cNvSpPr txBox="1"/>
          <p:nvPr/>
        </p:nvSpPr>
        <p:spPr>
          <a:xfrm>
            <a:off x="9025128" y="1645920"/>
            <a:ext cx="822960" cy="822960"/>
          </a:xfrm>
          <a:prstGeom prst="rect">
            <a:avLst/>
          </a:prstGeom>
          <a:noFill/>
          <a:ln/>
        </p:spPr>
        <p:txBody>
          <a:bodyPr wrap="square" lIns="0" tIns="0" rIns="0" bIns="0" rtlCol="0" anchor="ctr"/>
          <a:lstStyle/>
          <a:p>
            <a:pPr marL="0" indent="0" algn="ctr">
              <a:buNone/>
            </a:pPr>
            <a:r>
              <a:rPr lang="en-US" sz="2800" b="1" dirty="0">
                <a:solidFill>
                  <a:schemeClr val="bg1"/>
                </a:solidFill>
              </a:rPr>
              <a:t>4</a:t>
            </a:r>
            <a:endParaRPr lang="en-US" sz="2800" dirty="0"/>
          </a:p>
        </p:txBody>
      </p:sp>
      <p:sp>
        <p:nvSpPr>
          <p:cNvPr id="19" name="Demo step title 4"/>
          <p:cNvSpPr txBox="1"/>
          <p:nvPr/>
        </p:nvSpPr>
        <p:spPr>
          <a:xfrm>
            <a:off x="9025128" y="2743200"/>
            <a:ext cx="2606040" cy="457200"/>
          </a:xfrm>
          <a:prstGeom prst="rect">
            <a:avLst/>
          </a:prstGeom>
          <a:noFill/>
          <a:ln/>
        </p:spPr>
        <p:txBody>
          <a:bodyPr wrap="square" lIns="0" tIns="0" rIns="0" bIns="0" rtlCol="0" anchor="ctr"/>
          <a:lstStyle/>
          <a:p>
            <a:pPr marL="0" indent="0">
              <a:buNone/>
            </a:pPr>
            <a:r>
              <a:rPr lang="en-US" sz="2400" b="1" dirty="0">
                <a:solidFill>
                  <a:schemeClr val="tx2"/>
                </a:solidFill>
              </a:rPr>
              <a:t>Revisar</a:t>
            </a:r>
            <a:endParaRPr lang="en-US" sz="2400" dirty="0"/>
          </a:p>
        </p:txBody>
      </p:sp>
      <p:sp>
        <p:nvSpPr>
          <p:cNvPr id="20" name="Demo step text 4"/>
          <p:cNvSpPr txBox="1"/>
          <p:nvPr/>
        </p:nvSpPr>
        <p:spPr>
          <a:xfrm>
            <a:off x="9025128" y="3291840"/>
            <a:ext cx="2514600" cy="1280160"/>
          </a:xfrm>
          <a:prstGeom prst="rect">
            <a:avLst/>
          </a:prstGeom>
          <a:noFill/>
          <a:ln/>
        </p:spPr>
        <p:txBody>
          <a:bodyPr wrap="square" lIns="0" tIns="0" rIns="0" bIns="0" rtlCol="0" anchor="t"/>
          <a:lstStyle/>
          <a:p>
            <a:pPr marL="0" indent="0">
              <a:buNone/>
            </a:pPr>
            <a:r>
              <a:rPr lang="en-US" sz="1600" dirty="0">
                <a:solidFill>
                  <a:schemeClr val="tx1"/>
                </a:solidFill>
              </a:rPr>
              <a:t>Abrimos el informe: puntuaciones, explicaciones del juez y fallos.</a:t>
            </a:r>
            <a:endParaRPr lang="en-US" sz="1600" dirty="0"/>
          </a:p>
        </p:txBody>
      </p:sp>
      <p:sp>
        <p:nvSpPr>
          <p:cNvPr id="21" name="Failing path card"/>
          <p:cNvSpPr/>
          <p:nvPr/>
        </p:nvSpPr>
        <p:spPr>
          <a:xfrm>
            <a:off x="548640" y="4846320"/>
            <a:ext cx="11091672" cy="1097280"/>
          </a:xfrm>
          <a:prstGeom prst="roundRect">
            <a:avLst>
              <a:gd name="adj" fmla="val 10000"/>
            </a:avLst>
          </a:prstGeom>
          <a:solidFill>
            <a:schemeClr val="bg2"/>
          </a:solidFill>
          <a:ln/>
        </p:spPr>
        <p:txBody>
          <a:bodyPr/>
          <a:lstStyle/>
          <a:p>
            <a:endParaRPr lang="en-001"/>
          </a:p>
        </p:txBody>
      </p:sp>
      <p:sp>
        <p:nvSpPr>
          <p:cNvPr id="22" name="Failing path text"/>
          <p:cNvSpPr txBox="1"/>
          <p:nvPr/>
        </p:nvSpPr>
        <p:spPr>
          <a:xfrm>
            <a:off x="868680" y="4846320"/>
            <a:ext cx="10451592" cy="1097280"/>
          </a:xfrm>
          <a:prstGeom prst="rect">
            <a:avLst/>
          </a:prstGeom>
          <a:noFill/>
          <a:ln/>
        </p:spPr>
        <p:txBody>
          <a:bodyPr wrap="square" lIns="0" tIns="0" rIns="0" bIns="0" rtlCol="0" anchor="ctr"/>
          <a:lstStyle/>
          <a:p>
            <a:pPr marL="0" indent="0">
              <a:buNone/>
            </a:pPr>
            <a:r>
              <a:rPr lang="en-US" sz="1600" b="1" dirty="0">
                <a:solidFill>
                  <a:schemeClr val="accent4"/>
                </a:solidFill>
              </a:rPr>
              <a:t>Caso de fallo a propósito: </a:t>
            </a:r>
            <a:r>
              <a:rPr lang="en-US" sz="1600" dirty="0">
                <a:solidFill>
                  <a:schemeClr val="tx1"/>
                </a:solidFill>
              </a:rPr>
              <a:t>pediremos enlaces externos (bbcgoodfood.com, lonelyplanet.com). Si el agente los incluye, el evaluador de enlaces puntuará 0.</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45920"/>
            <a:ext cx="7680960" cy="2286000"/>
          </a:xfrm>
          <a:prstGeom prst="rect">
            <a:avLst/>
          </a:prstGeom>
          <a:noFill/>
          <a:ln/>
        </p:spPr>
        <p:txBody>
          <a:bodyPr wrap="square" lIns="0" tIns="0" rIns="0" bIns="0" rtlCol="0" anchor="b"/>
          <a:lstStyle/>
          <a:p>
            <a:pPr marL="0" indent="0" algn="l">
              <a:buNone/>
            </a:pPr>
            <a:r>
              <a:rPr lang="en-US" sz="4400" b="1" dirty="0">
                <a:solidFill>
                  <a:schemeClr val="bg1"/>
                </a:solidFill>
              </a:rPr>
              <a:t>Mejorar un agente empieza por escuchar a quienes lo usan</a:t>
            </a:r>
            <a:endParaRPr lang="en-US" sz="4400" dirty="0"/>
          </a:p>
        </p:txBody>
      </p:sp>
      <p:sp>
        <p:nvSpPr>
          <p:cNvPr id="3" name="Text 0"/>
          <p:cNvSpPr>
            <a:spLocks noGrp="1"/>
          </p:cNvSpPr>
          <p:nvPr>
            <p:ph type="body" idx="101" hasCustomPrompt="1"/>
          </p:nvPr>
        </p:nvSpPr>
        <p:spPr>
          <a:xfrm>
            <a:off x="731520" y="4160520"/>
            <a:ext cx="7680960" cy="914400"/>
          </a:xfrm>
          <a:prstGeom prst="rect">
            <a:avLst/>
          </a:prstGeom>
          <a:noFill/>
          <a:ln/>
        </p:spPr>
        <p:txBody>
          <a:bodyPr wrap="square" lIns="0" tIns="0" rIns="0" bIns="0" rtlCol="0" anchor="t"/>
          <a:lstStyle/>
          <a:p>
            <a:pPr marL="0" indent="0" algn="l">
              <a:buNone/>
            </a:pPr>
            <a:r>
              <a:rPr lang="en-US" sz="2000" dirty="0">
                <a:solidFill>
                  <a:schemeClr val="accent3"/>
                </a:solidFill>
              </a:rPr>
              <a:t>Medir con interacciones reales convierte la opinión en evidencia.</a:t>
            </a:r>
            <a:endParaRPr lang="en-US" sz="2000" dirty="0"/>
          </a:p>
        </p:txBody>
      </p:sp>
      <p:sp>
        <p:nvSpPr>
          <p:cNvPr id="4" name="Datos reales circle"/>
          <p:cNvSpPr/>
          <p:nvPr/>
        </p:nvSpPr>
        <p:spPr>
          <a:xfrm>
            <a:off x="9418320" y="1280160"/>
            <a:ext cx="822960" cy="822960"/>
          </a:xfrm>
          <a:prstGeom prst="ellipse">
            <a:avLst/>
          </a:prstGeom>
          <a:solidFill>
            <a:schemeClr val="accent1"/>
          </a:solidFill>
          <a:ln/>
        </p:spPr>
        <p:txBody>
          <a:bodyPr/>
          <a:lstStyle/>
          <a:p>
            <a:endParaRPr lang="en-001"/>
          </a:p>
        </p:txBody>
      </p:sp>
      <p:pic>
        <p:nvPicPr>
          <p:cNvPr id="5" name="Datos reales" descr="Datos reales"/>
          <p:cNvPicPr>
            <a:picLocks noChangeAspect="1"/>
          </p:cNvPicPr>
          <p:nvPr/>
        </p:nvPicPr>
        <p:blipFill>
          <a:blip r:embed="rId3"/>
          <a:stretch>
            <a:fillRect/>
          </a:stretch>
        </p:blipFill>
        <p:spPr>
          <a:xfrm>
            <a:off x="9624060" y="1485900"/>
            <a:ext cx="411480" cy="411480"/>
          </a:xfrm>
          <a:prstGeom prst="rect">
            <a:avLst/>
          </a:prstGeom>
        </p:spPr>
      </p:pic>
      <p:sp>
        <p:nvSpPr>
          <p:cNvPr id="6" name="Takeaway label 1"/>
          <p:cNvSpPr txBox="1"/>
          <p:nvPr/>
        </p:nvSpPr>
        <p:spPr>
          <a:xfrm>
            <a:off x="10378440" y="1280160"/>
            <a:ext cx="1463040" cy="822960"/>
          </a:xfrm>
          <a:prstGeom prst="rect">
            <a:avLst/>
          </a:prstGeom>
          <a:noFill/>
          <a:ln/>
        </p:spPr>
        <p:txBody>
          <a:bodyPr wrap="square" lIns="0" tIns="0" rIns="0" bIns="0" rtlCol="0" anchor="ctr"/>
          <a:lstStyle/>
          <a:p>
            <a:pPr marL="0" indent="0">
              <a:buNone/>
            </a:pPr>
            <a:r>
              <a:rPr lang="en-US" sz="1600" b="1" dirty="0">
                <a:solidFill>
                  <a:schemeClr val="bg1"/>
                </a:solidFill>
              </a:rPr>
              <a:t>Datos reales</a:t>
            </a:r>
            <a:endParaRPr lang="en-US" sz="1600" dirty="0"/>
          </a:p>
        </p:txBody>
      </p:sp>
      <p:sp>
        <p:nvSpPr>
          <p:cNvPr id="7" name="Criterios claros circle"/>
          <p:cNvSpPr/>
          <p:nvPr/>
        </p:nvSpPr>
        <p:spPr>
          <a:xfrm>
            <a:off x="9418320" y="2743200"/>
            <a:ext cx="822960" cy="822960"/>
          </a:xfrm>
          <a:prstGeom prst="ellipse">
            <a:avLst/>
          </a:prstGeom>
          <a:solidFill>
            <a:schemeClr val="accent1"/>
          </a:solidFill>
          <a:ln/>
        </p:spPr>
        <p:txBody>
          <a:bodyPr/>
          <a:lstStyle/>
          <a:p>
            <a:endParaRPr lang="en-001"/>
          </a:p>
        </p:txBody>
      </p:sp>
      <p:pic>
        <p:nvPicPr>
          <p:cNvPr id="8" name="Criterios claros" descr="Criterios claros"/>
          <p:cNvPicPr>
            <a:picLocks noChangeAspect="1"/>
          </p:cNvPicPr>
          <p:nvPr/>
        </p:nvPicPr>
        <p:blipFill>
          <a:blip r:embed="rId4"/>
          <a:stretch>
            <a:fillRect/>
          </a:stretch>
        </p:blipFill>
        <p:spPr>
          <a:xfrm>
            <a:off x="9624060" y="2948940"/>
            <a:ext cx="411480" cy="411480"/>
          </a:xfrm>
          <a:prstGeom prst="rect">
            <a:avLst/>
          </a:prstGeom>
        </p:spPr>
      </p:pic>
      <p:sp>
        <p:nvSpPr>
          <p:cNvPr id="9" name="Takeaway label 2"/>
          <p:cNvSpPr txBox="1"/>
          <p:nvPr/>
        </p:nvSpPr>
        <p:spPr>
          <a:xfrm>
            <a:off x="10378440" y="2743200"/>
            <a:ext cx="1463040" cy="822960"/>
          </a:xfrm>
          <a:prstGeom prst="rect">
            <a:avLst/>
          </a:prstGeom>
          <a:noFill/>
          <a:ln/>
        </p:spPr>
        <p:txBody>
          <a:bodyPr wrap="square" lIns="0" tIns="0" rIns="0" bIns="0" rtlCol="0" anchor="ctr"/>
          <a:lstStyle/>
          <a:p>
            <a:pPr marL="0" indent="0">
              <a:buNone/>
            </a:pPr>
            <a:r>
              <a:rPr lang="en-US" sz="1600" b="1" dirty="0">
                <a:solidFill>
                  <a:schemeClr val="bg1"/>
                </a:solidFill>
              </a:rPr>
              <a:t>Criterios claros</a:t>
            </a:r>
            <a:endParaRPr lang="en-US" sz="1600" dirty="0"/>
          </a:p>
        </p:txBody>
      </p:sp>
      <p:sp>
        <p:nvSpPr>
          <p:cNvPr id="10" name="Mejora continua circle"/>
          <p:cNvSpPr/>
          <p:nvPr/>
        </p:nvSpPr>
        <p:spPr>
          <a:xfrm>
            <a:off x="9418320" y="4206240"/>
            <a:ext cx="822960" cy="822960"/>
          </a:xfrm>
          <a:prstGeom prst="ellipse">
            <a:avLst/>
          </a:prstGeom>
          <a:solidFill>
            <a:schemeClr val="accent1"/>
          </a:solidFill>
          <a:ln/>
        </p:spPr>
        <p:txBody>
          <a:bodyPr/>
          <a:lstStyle/>
          <a:p>
            <a:endParaRPr lang="en-001"/>
          </a:p>
        </p:txBody>
      </p:sp>
      <p:pic>
        <p:nvPicPr>
          <p:cNvPr id="11" name="Mejora continua" descr="Mejora continua"/>
          <p:cNvPicPr>
            <a:picLocks noChangeAspect="1"/>
          </p:cNvPicPr>
          <p:nvPr/>
        </p:nvPicPr>
        <p:blipFill>
          <a:blip r:embed="rId5"/>
          <a:stretch>
            <a:fillRect/>
          </a:stretch>
        </p:blipFill>
        <p:spPr>
          <a:xfrm>
            <a:off x="9624060" y="4411980"/>
            <a:ext cx="411480" cy="411480"/>
          </a:xfrm>
          <a:prstGeom prst="rect">
            <a:avLst/>
          </a:prstGeom>
        </p:spPr>
      </p:pic>
      <p:sp>
        <p:nvSpPr>
          <p:cNvPr id="12" name="Takeaway label 3"/>
          <p:cNvSpPr txBox="1"/>
          <p:nvPr/>
        </p:nvSpPr>
        <p:spPr>
          <a:xfrm>
            <a:off x="10378440" y="4206240"/>
            <a:ext cx="1463040" cy="822960"/>
          </a:xfrm>
          <a:prstGeom prst="rect">
            <a:avLst/>
          </a:prstGeom>
          <a:noFill/>
          <a:ln/>
        </p:spPr>
        <p:txBody>
          <a:bodyPr wrap="square" lIns="0" tIns="0" rIns="0" bIns="0" rtlCol="0" anchor="ctr"/>
          <a:lstStyle/>
          <a:p>
            <a:pPr marL="0" indent="0">
              <a:buNone/>
            </a:pPr>
            <a:r>
              <a:rPr lang="en-US" sz="1600" b="1" dirty="0">
                <a:solidFill>
                  <a:schemeClr val="bg1"/>
                </a:solidFill>
              </a:rPr>
              <a:t>Mejora continua</a:t>
            </a:r>
            <a:endParaRPr lang="en-US" sz="1600" dirty="0"/>
          </a:p>
        </p:txBody>
      </p:sp>
    </p:spTree>
  </p:cSld>
  <p:clrMapOvr>
    <a:masterClrMapping/>
  </p:clrMapOvr>
</p:sld>
</file>

<file path=ppt/theme/theme1.xml><?xml version="1.0" encoding="utf-8"?>
<a:theme xmlns:a="http://schemas.openxmlformats.org/drawingml/2006/main" name="Autoevaluaciones">
  <a:themeElements>
    <a:clrScheme name="Autoevaluaciones">
      <a:dk1>
        <a:srgbClr val="14282B"/>
      </a:dk1>
      <a:lt1>
        <a:srgbClr val="FFFFFF"/>
      </a:lt1>
      <a:dk2>
        <a:srgbClr val="0F2D2E"/>
      </a:dk2>
      <a:lt2>
        <a:srgbClr val="EDF5F3"/>
      </a:lt2>
      <a:accent1>
        <a:srgbClr val="1F7A6D"/>
      </a:accent1>
      <a:accent2>
        <a:srgbClr val="F2A33A"/>
      </a:accent2>
      <a:accent3>
        <a:srgbClr val="7FD1B9"/>
      </a:accent3>
      <a:accent4>
        <a:srgbClr val="C8473F"/>
      </a:accent4>
      <a:accent5>
        <a:srgbClr val="5B6B70"/>
      </a:accent5>
      <a:accent6>
        <a:srgbClr val="2E4A4D"/>
      </a:accent6>
      <a:hlink>
        <a:srgbClr val="1F7A6D"/>
      </a:hlink>
      <a:folHlink>
        <a:srgbClr val="5B6B70"/>
      </a:folHlink>
    </a:clrScheme>
    <a:fontScheme name="Autoevaluacion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1031</Words>
  <Application>Microsoft Office PowerPoint</Application>
  <PresentationFormat>Widescreen</PresentationFormat>
  <Paragraphs>138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Autoevaluaciones</vt:lpstr>
      <vt:lpstr>Autoevaluaciones de agentes de IA</vt:lpstr>
      <vt:lpstr>Lanzar un agente no es saber si funciona</vt:lpstr>
      <vt:lpstr>Qué es una autoevaluación</vt:lpstr>
      <vt:lpstr>Por qué lo hacemos</vt:lpstr>
      <vt:lpstr>El valor de usar interacciones reales</vt:lpstr>
      <vt:lpstr>Qué medimos: seis criterios</vt:lpstr>
      <vt:lpstr>Dos formas de evaluar una respuesta</vt:lpstr>
      <vt:lpstr>Cómo funciona en la demo</vt:lpstr>
      <vt:lpstr>Qué veremos en la demo</vt:lpstr>
      <vt:lpstr>Mejorar un agente empieza por escuchar a quienes lo usan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Autoevaluaciones de agentes</dc:title>
  <dc:subject>PptxGenJS Presentation</dc:subject>
  <dc:creator>Comunidad</dc:creator>
  <cp:lastModifiedBy>Rodrigo Liberoff Vázquez</cp:lastModifiedBy>
  <cp:revision>2</cp:revision>
  <dcterms:created xsi:type="dcterms:W3CDTF">2026-10-27T13:57:39Z</dcterms:created>
  <dcterms:modified xsi:type="dcterms:W3CDTF">2026-10-27T15:05:33Z</dcterms:modified>
</cp:coreProperties>
</file>